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8" r:id="rId4"/>
    <p:sldId id="267" r:id="rId5"/>
    <p:sldId id="264" r:id="rId6"/>
    <p:sldId id="265" r:id="rId7"/>
    <p:sldId id="266" r:id="rId8"/>
    <p:sldId id="272" r:id="rId9"/>
    <p:sldId id="273" r:id="rId10"/>
    <p:sldId id="277" r:id="rId11"/>
    <p:sldId id="279"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DY.BI@baruchmail.cuny.edu" initials="R" lastIdx="4" clrIdx="0">
    <p:extLst>
      <p:ext uri="{19B8F6BF-5375-455C-9EA6-DF929625EA0E}">
        <p15:presenceInfo xmlns:p15="http://schemas.microsoft.com/office/powerpoint/2012/main" userId="S::RUDY.BI@baruchmail.cuny.edu::cdbfb82e-c66d-4386-a3b0-7ec493f697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6357" autoAdjust="0"/>
  </p:normalViewPr>
  <p:slideViewPr>
    <p:cSldViewPr snapToGrid="0">
      <p:cViewPr varScale="1">
        <p:scale>
          <a:sx n="114" d="100"/>
          <a:sy n="11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72D03F-6D68-4EE9-8ABE-55C0CABE0B53}" type="datetimeFigureOut">
              <a:rPr lang="en-US" smtClean="0"/>
              <a:t>4/26/2020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D4302-8C40-460F-958C-38F88847FB6F}" type="slidenum">
              <a:rPr lang="en-US" smtClean="0"/>
              <a:t>‹#›</a:t>
            </a:fld>
            <a:endParaRPr lang="en-US"/>
          </a:p>
        </p:txBody>
      </p:sp>
    </p:spTree>
    <p:extLst>
      <p:ext uri="{BB962C8B-B14F-4D97-AF65-F5344CB8AC3E}">
        <p14:creationId xmlns:p14="http://schemas.microsoft.com/office/powerpoint/2010/main" val="1415873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AD4302-8C40-460F-958C-38F88847FB6F}" type="slidenum">
              <a:rPr lang="en-US" smtClean="0"/>
              <a:t>4</a:t>
            </a:fld>
            <a:endParaRPr lang="en-US"/>
          </a:p>
        </p:txBody>
      </p:sp>
    </p:spTree>
    <p:extLst>
      <p:ext uri="{BB962C8B-B14F-4D97-AF65-F5344CB8AC3E}">
        <p14:creationId xmlns:p14="http://schemas.microsoft.com/office/powerpoint/2010/main" val="181666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7F9F5-3A3A-4AD4-A052-968772502B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705448-EF38-4703-BF9B-AEA0D0D0CE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9FC761-09E8-4BD4-B612-F7C95BBB9957}"/>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F0078D13-E71A-4DFA-AAFF-ED5B859795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85E042-FDDC-4BEE-9435-DD24266A78E6}"/>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2848933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D03B-7110-48D6-9DF1-22D8CF144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0E52FF-DA92-4C14-811F-08B8024003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0DF1C6-36FA-480A-A9F6-774321235F15}"/>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AFAE740E-C4E0-47B5-9F0D-19525B68A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DE417-C1E3-4C38-ADC2-E4320C77A904}"/>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4238018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C466F-EA1C-434A-A7DF-4EA786227B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79B87F-DE9D-478B-A20C-D715C14E3B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1125D2-3EAC-4A47-9FE6-4F42B3B7E213}"/>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E5E42C9C-779A-4143-9922-FA1AAF733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DA6BA0-D942-4336-BAB9-C5A761604B2B}"/>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2673554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5F799-1E0B-4D2E-AFC6-EACB782B1C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E5A41C-E572-439E-80D7-E3F08CD29B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086B60-52E8-4370-8D64-434FE2E4B0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267578-5B02-450C-936A-6DCF5A94304C}"/>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6" name="Footer Placeholder 5">
            <a:extLst>
              <a:ext uri="{FF2B5EF4-FFF2-40B4-BE49-F238E27FC236}">
                <a16:creationId xmlns:a16="http://schemas.microsoft.com/office/drawing/2014/main" id="{F8E9EF5D-F39B-4AFB-8ABB-B7D6840C6D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4DA1C7-F7B4-4797-BCD3-938C0084704B}"/>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2698987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F7E9-4630-4C9E-ACDF-9C8734C343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825E2A-D84C-4401-8023-FF3D22569F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955B68-B8CC-4B03-9895-BBFA7C57E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B8147F-A448-4692-9EC5-BE123EAB15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66E2DE-2208-4786-ABD1-84479A6036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C21E00-7726-4420-8944-58685B58CF4D}"/>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8" name="Footer Placeholder 7">
            <a:extLst>
              <a:ext uri="{FF2B5EF4-FFF2-40B4-BE49-F238E27FC236}">
                <a16:creationId xmlns:a16="http://schemas.microsoft.com/office/drawing/2014/main" id="{1FD181CE-AC18-4813-97B0-C888375FBC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6AC644-BFEC-4D75-B5BC-76AF85F6B4D3}"/>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4143787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7CAE-E569-44A9-AB4B-562F342A47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EB2C6B-CA5C-41FC-8BE3-4FCA7B735529}"/>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4" name="Footer Placeholder 3">
            <a:extLst>
              <a:ext uri="{FF2B5EF4-FFF2-40B4-BE49-F238E27FC236}">
                <a16:creationId xmlns:a16="http://schemas.microsoft.com/office/drawing/2014/main" id="{F0891EFF-6653-4E99-9D3F-C9609A6472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E026D2-27C9-4B7E-96FD-625576025EF9}"/>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4182203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4C20C-588D-4867-8A2A-476DB8680DA3}"/>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3" name="Footer Placeholder 2">
            <a:extLst>
              <a:ext uri="{FF2B5EF4-FFF2-40B4-BE49-F238E27FC236}">
                <a16:creationId xmlns:a16="http://schemas.microsoft.com/office/drawing/2014/main" id="{9233C2A0-F6F5-4082-A8AD-771345C565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05CBF4-4BED-49B0-8D61-4DA714181D50}"/>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375232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671A-3B17-4438-845A-514D8C3D7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E9F46E-C8CC-4A22-A567-5DD2AAB1BA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92ADB5-0A9A-440F-9FBD-D1BAC041BF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38DC5-E3AE-457E-A786-E3D24546D8A2}"/>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6" name="Footer Placeholder 5">
            <a:extLst>
              <a:ext uri="{FF2B5EF4-FFF2-40B4-BE49-F238E27FC236}">
                <a16:creationId xmlns:a16="http://schemas.microsoft.com/office/drawing/2014/main" id="{F269247B-B00A-4126-9358-A18EA8307A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0EEB14-78A4-4F3A-8F69-61BFD99AAF9E}"/>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1425741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8046-3E6A-446F-BA3B-CAA930879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CE4822-223B-4C0E-95A4-59D1B472D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C873A1-580B-4305-9A85-B6731D487E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CB6B4B-8310-43A2-A523-671658C19055}"/>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6" name="Footer Placeholder 5">
            <a:extLst>
              <a:ext uri="{FF2B5EF4-FFF2-40B4-BE49-F238E27FC236}">
                <a16:creationId xmlns:a16="http://schemas.microsoft.com/office/drawing/2014/main" id="{8FEEC724-DCC2-4A83-9049-70C2C14B2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4DF4ED-4A3C-412C-B5B0-D6DC59157116}"/>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926146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87EC2-E1E1-46DA-8016-EDCB7D4AFD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E08D0E-2835-4D5C-90C7-4B36D05927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6D6FB-8078-4D2C-AB9D-07CD7EFCECB5}"/>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9C3BD5FA-C29F-4736-A6E9-CDC86A64EE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98CE-D007-4595-8575-B740C6373444}"/>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1195861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D0269-73A6-4E0C-9AF4-0FA213CC0F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54D969-CC49-4944-A42B-AC1E40F545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F3D228-89AF-4C91-9DA4-76779A2ED1D2}"/>
              </a:ext>
            </a:extLst>
          </p:cNvPr>
          <p:cNvSpPr>
            <a:spLocks noGrp="1"/>
          </p:cNvSpPr>
          <p:nvPr>
            <p:ph type="dt" sz="half" idx="10"/>
          </p:nvPr>
        </p:nvSpPr>
        <p:spPr/>
        <p:txBody>
          <a:body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0975F2CA-DE3A-465B-8550-7526A52BB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12A739-CF12-4441-BFEB-53A7380CF850}"/>
              </a:ext>
            </a:extLst>
          </p:cNvPr>
          <p:cNvSpPr>
            <a:spLocks noGrp="1"/>
          </p:cNvSpPr>
          <p:nvPr>
            <p:ph type="sldNum" sz="quarter" idx="12"/>
          </p:nvPr>
        </p:nvSpPr>
        <p:spPr/>
        <p:txBody>
          <a:bodyPr/>
          <a:lstStyle/>
          <a:p>
            <a:fld id="{A589A145-20BC-4A68-9F20-FA24986B9732}" type="slidenum">
              <a:rPr lang="en-US" smtClean="0"/>
              <a:t>‹#›</a:t>
            </a:fld>
            <a:endParaRPr lang="en-US"/>
          </a:p>
        </p:txBody>
      </p:sp>
    </p:spTree>
    <p:extLst>
      <p:ext uri="{BB962C8B-B14F-4D97-AF65-F5344CB8AC3E}">
        <p14:creationId xmlns:p14="http://schemas.microsoft.com/office/powerpoint/2010/main" val="2873014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B81B5-8A1E-4F85-B72A-ECE02C6ED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EF4EC3-DC5A-4CE5-B7AA-A56E30436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187DC-9CE5-48D5-88CA-DF6B5EA7B3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262D8F-9EC6-434B-8891-94061A6C9C0A}" type="datetimeFigureOut">
              <a:rPr lang="en-US" smtClean="0"/>
              <a:t>4/26/2020</a:t>
            </a:fld>
            <a:endParaRPr lang="en-US"/>
          </a:p>
        </p:txBody>
      </p:sp>
      <p:sp>
        <p:nvSpPr>
          <p:cNvPr id="5" name="Footer Placeholder 4">
            <a:extLst>
              <a:ext uri="{FF2B5EF4-FFF2-40B4-BE49-F238E27FC236}">
                <a16:creationId xmlns:a16="http://schemas.microsoft.com/office/drawing/2014/main" id="{0ABC5278-6296-495E-BFFE-DEA59958A6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72F7C59-B5EF-4E5F-BAA9-021564486E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9A145-20BC-4A68-9F20-FA24986B9732}" type="slidenum">
              <a:rPr lang="en-US" smtClean="0"/>
              <a:t>‹#›</a:t>
            </a:fld>
            <a:endParaRPr lang="en-US"/>
          </a:p>
        </p:txBody>
      </p:sp>
    </p:spTree>
    <p:extLst>
      <p:ext uri="{BB962C8B-B14F-4D97-AF65-F5344CB8AC3E}">
        <p14:creationId xmlns:p14="http://schemas.microsoft.com/office/powerpoint/2010/main" val="1795185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abdulwahab@gmail.com" TargetMode="External"/><Relationship Id="rId2" Type="http://schemas.openxmlformats.org/officeDocument/2006/relationships/hyperlink" Target="mailto:procida.ronald@gmail.com" TargetMode="External"/><Relationship Id="rId1" Type="http://schemas.openxmlformats.org/officeDocument/2006/relationships/slideLayout" Target="../slideLayouts/slideLayout2.xml"/><Relationship Id="rId5" Type="http://schemas.openxmlformats.org/officeDocument/2006/relationships/hyperlink" Target="mailto:cavrudy@gmail.com" TargetMode="External"/><Relationship Id="rId4" Type="http://schemas.openxmlformats.org/officeDocument/2006/relationships/hyperlink" Target="mailto:nasiha.jerin@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55EC-CA6D-4979-A149-C3FC75A08BC6}"/>
              </a:ext>
            </a:extLst>
          </p:cNvPr>
          <p:cNvSpPr>
            <a:spLocks noGrp="1"/>
          </p:cNvSpPr>
          <p:nvPr>
            <p:ph type="ctrTitle"/>
          </p:nvPr>
        </p:nvSpPr>
        <p:spPr/>
        <p:txBody>
          <a:bodyPr/>
          <a:lstStyle/>
          <a:p>
            <a:r>
              <a:rPr lang="en-US" b="1" dirty="0"/>
              <a:t>WEB-BASED COURSE ATTENDANCE SYSTEM</a:t>
            </a:r>
            <a:endParaRPr lang="en-US" dirty="0"/>
          </a:p>
        </p:txBody>
      </p:sp>
      <p:sp>
        <p:nvSpPr>
          <p:cNvPr id="3" name="Subtitle 2">
            <a:extLst>
              <a:ext uri="{FF2B5EF4-FFF2-40B4-BE49-F238E27FC236}">
                <a16:creationId xmlns:a16="http://schemas.microsoft.com/office/drawing/2014/main" id="{48851A1B-F558-45B8-A447-A7F003435133}"/>
              </a:ext>
            </a:extLst>
          </p:cNvPr>
          <p:cNvSpPr>
            <a:spLocks noGrp="1"/>
          </p:cNvSpPr>
          <p:nvPr>
            <p:ph type="subTitle" idx="1"/>
          </p:nvPr>
        </p:nvSpPr>
        <p:spPr/>
        <p:txBody>
          <a:bodyPr>
            <a:normAutofit fontScale="77500" lnSpcReduction="20000"/>
          </a:bodyPr>
          <a:lstStyle/>
          <a:p>
            <a:r>
              <a:rPr lang="en-US" b="1" dirty="0"/>
              <a:t>Ronald Procida</a:t>
            </a:r>
          </a:p>
          <a:p>
            <a:r>
              <a:rPr lang="en-US" b="1" dirty="0"/>
              <a:t>Abdul Wahab</a:t>
            </a:r>
          </a:p>
          <a:p>
            <a:r>
              <a:rPr lang="en-US" b="1" dirty="0"/>
              <a:t>Nasiha Jerin</a:t>
            </a:r>
          </a:p>
          <a:p>
            <a:r>
              <a:rPr lang="en-US" b="1" dirty="0"/>
              <a:t>Xiaqian Zhang</a:t>
            </a:r>
          </a:p>
          <a:p>
            <a:r>
              <a:rPr lang="en-US" b="1" dirty="0"/>
              <a:t>Rudy Bi</a:t>
            </a:r>
          </a:p>
        </p:txBody>
      </p:sp>
    </p:spTree>
    <p:extLst>
      <p:ext uri="{BB962C8B-B14F-4D97-AF65-F5344CB8AC3E}">
        <p14:creationId xmlns:p14="http://schemas.microsoft.com/office/powerpoint/2010/main" val="264000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95FE-7175-4F45-BF30-3D559F64D305}"/>
              </a:ext>
            </a:extLst>
          </p:cNvPr>
          <p:cNvSpPr>
            <a:spLocks noGrp="1"/>
          </p:cNvSpPr>
          <p:nvPr>
            <p:ph type="title"/>
          </p:nvPr>
        </p:nvSpPr>
        <p:spPr/>
        <p:txBody>
          <a:bodyPr/>
          <a:lstStyle/>
          <a:p>
            <a:pPr algn="ctr"/>
            <a:r>
              <a:rPr lang="en-US" b="1" dirty="0"/>
              <a:t>Executive Summary</a:t>
            </a:r>
            <a:endParaRPr lang="en-US" dirty="0"/>
          </a:p>
        </p:txBody>
      </p:sp>
      <p:sp>
        <p:nvSpPr>
          <p:cNvPr id="3" name="Content Placeholder 2">
            <a:extLst>
              <a:ext uri="{FF2B5EF4-FFF2-40B4-BE49-F238E27FC236}">
                <a16:creationId xmlns:a16="http://schemas.microsoft.com/office/drawing/2014/main" id="{8CCCF0F9-E4E7-417D-B940-A4FB9DB911F5}"/>
              </a:ext>
            </a:extLst>
          </p:cNvPr>
          <p:cNvSpPr>
            <a:spLocks noGrp="1"/>
          </p:cNvSpPr>
          <p:nvPr>
            <p:ph idx="1"/>
          </p:nvPr>
        </p:nvSpPr>
        <p:spPr/>
        <p:txBody>
          <a:bodyPr/>
          <a:lstStyle/>
          <a:p>
            <a:r>
              <a:rPr lang="en-US" dirty="0"/>
              <a:t>Human interaction remains crucial despite technological advancements</a:t>
            </a:r>
          </a:p>
          <a:p>
            <a:pPr marL="0" indent="0">
              <a:buNone/>
            </a:pPr>
            <a:endParaRPr lang="en-US" dirty="0"/>
          </a:p>
          <a:p>
            <a:r>
              <a:rPr lang="en-US" dirty="0"/>
              <a:t>COVID-19 suggests business/academic activities to be conducted at home</a:t>
            </a:r>
          </a:p>
          <a:p>
            <a:pPr marL="0" indent="0">
              <a:buNone/>
            </a:pPr>
            <a:endParaRPr lang="en-US" dirty="0"/>
          </a:p>
          <a:p>
            <a:r>
              <a:rPr lang="en-US" dirty="0"/>
              <a:t>Attendance during Distant learning can be a challenge for instructors</a:t>
            </a:r>
          </a:p>
          <a:p>
            <a:pPr marL="0" indent="0">
              <a:buNone/>
            </a:pPr>
            <a:endParaRPr lang="en-US" dirty="0"/>
          </a:p>
          <a:p>
            <a:r>
              <a:rPr lang="en-US" dirty="0"/>
              <a:t>The Attendance System attempts to solve these challenges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978069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B5C2B-CC69-426A-9AE3-E25E5F5B22B9}"/>
              </a:ext>
            </a:extLst>
          </p:cNvPr>
          <p:cNvSpPr>
            <a:spLocks noGrp="1"/>
          </p:cNvSpPr>
          <p:nvPr>
            <p:ph type="title"/>
          </p:nvPr>
        </p:nvSpPr>
        <p:spPr/>
        <p:txBody>
          <a:bodyPr>
            <a:normAutofit/>
          </a:bodyPr>
          <a:lstStyle/>
          <a:p>
            <a:r>
              <a:rPr lang="en-US" dirty="0"/>
              <a:t>			 </a:t>
            </a:r>
            <a:r>
              <a:rPr lang="en-US" b="1" dirty="0"/>
              <a:t>Project Proposal:</a:t>
            </a:r>
            <a:endParaRPr lang="en-US" sz="2400" b="1" dirty="0"/>
          </a:p>
        </p:txBody>
      </p:sp>
      <p:graphicFrame>
        <p:nvGraphicFramePr>
          <p:cNvPr id="4" name="Table 4">
            <a:extLst>
              <a:ext uri="{FF2B5EF4-FFF2-40B4-BE49-F238E27FC236}">
                <a16:creationId xmlns:a16="http://schemas.microsoft.com/office/drawing/2014/main" id="{5749A602-649C-47C6-BCBB-E309771021B8}"/>
              </a:ext>
            </a:extLst>
          </p:cNvPr>
          <p:cNvGraphicFramePr>
            <a:graphicFrameLocks noGrp="1"/>
          </p:cNvGraphicFramePr>
          <p:nvPr>
            <p:ph idx="1"/>
            <p:extLst>
              <p:ext uri="{D42A27DB-BD31-4B8C-83A1-F6EECF244321}">
                <p14:modId xmlns:p14="http://schemas.microsoft.com/office/powerpoint/2010/main" val="2015441843"/>
              </p:ext>
            </p:extLst>
          </p:nvPr>
        </p:nvGraphicFramePr>
        <p:xfrm>
          <a:off x="838200" y="1825625"/>
          <a:ext cx="10515597" cy="466852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2458487791"/>
                    </a:ext>
                  </a:extLst>
                </a:gridCol>
                <a:gridCol w="3508696">
                  <a:extLst>
                    <a:ext uri="{9D8B030D-6E8A-4147-A177-3AD203B41FA5}">
                      <a16:colId xmlns:a16="http://schemas.microsoft.com/office/drawing/2014/main" val="3456746108"/>
                    </a:ext>
                  </a:extLst>
                </a:gridCol>
                <a:gridCol w="3501702">
                  <a:extLst>
                    <a:ext uri="{9D8B030D-6E8A-4147-A177-3AD203B41FA5}">
                      <a16:colId xmlns:a16="http://schemas.microsoft.com/office/drawing/2014/main" val="472422782"/>
                    </a:ext>
                  </a:extLst>
                </a:gridCol>
              </a:tblGrid>
              <a:tr h="370840">
                <a:tc>
                  <a:txBody>
                    <a:bodyPr/>
                    <a:lstStyle/>
                    <a:p>
                      <a:pPr algn="ctr"/>
                      <a:r>
                        <a:rPr lang="en-US" b="1" dirty="0"/>
                        <a:t>Background</a:t>
                      </a:r>
                      <a:r>
                        <a:rPr lang="en-US" dirty="0"/>
                        <a:t> </a:t>
                      </a:r>
                      <a:r>
                        <a:rPr lang="en-US" b="1" dirty="0"/>
                        <a:t>Information</a:t>
                      </a:r>
                      <a:endParaRPr lang="en-US" dirty="0"/>
                    </a:p>
                  </a:txBody>
                  <a:tcPr/>
                </a:tc>
                <a:tc>
                  <a:txBody>
                    <a:bodyPr/>
                    <a:lstStyle/>
                    <a:p>
                      <a:pPr algn="ctr"/>
                      <a:r>
                        <a:rPr lang="en-US" b="1" dirty="0"/>
                        <a:t>Problem Statement</a:t>
                      </a:r>
                      <a:endParaRPr lang="en-US" dirty="0"/>
                    </a:p>
                  </a:txBody>
                  <a:tcPr/>
                </a:tc>
                <a:tc>
                  <a:txBody>
                    <a:bodyPr/>
                    <a:lstStyle/>
                    <a:p>
                      <a:pPr algn="ctr"/>
                      <a:r>
                        <a:rPr lang="en-US" b="1" dirty="0"/>
                        <a:t>Proposed Solution</a:t>
                      </a:r>
                      <a:endParaRPr lang="en-US" dirty="0"/>
                    </a:p>
                  </a:txBody>
                  <a:tcPr/>
                </a:tc>
                <a:extLst>
                  <a:ext uri="{0D108BD9-81ED-4DB2-BD59-A6C34878D82A}">
                    <a16:rowId xmlns:a16="http://schemas.microsoft.com/office/drawing/2014/main" val="1739712828"/>
                  </a:ext>
                </a:extLst>
              </a:tr>
              <a:tr h="370840">
                <a:tc>
                  <a:txBody>
                    <a:bodyPr/>
                    <a:lstStyle/>
                    <a:p>
                      <a:pPr marL="285750" indent="-285750">
                        <a:buFont typeface="Arial" panose="020B0604020202020204" pitchFamily="34" charset="0"/>
                        <a:buChar char="•"/>
                      </a:pPr>
                      <a:r>
                        <a:rPr lang="en-US" sz="1200" dirty="0"/>
                        <a:t>Attend today, and achieve tomorrow.” - Unknown. Attendance is an assessment of a student's consistent measured participation of said course. </a:t>
                      </a:r>
                    </a:p>
                    <a:p>
                      <a:pPr marL="0" indent="0">
                        <a:buNone/>
                      </a:pPr>
                      <a:endParaRPr lang="en-US" sz="1200" dirty="0"/>
                    </a:p>
                    <a:p>
                      <a:pPr marL="285750" indent="-285750">
                        <a:buFont typeface="Arial" panose="020B0604020202020204" pitchFamily="34" charset="0"/>
                        <a:buChar char="•"/>
                      </a:pPr>
                      <a:r>
                        <a:rPr lang="en-US" sz="1200" dirty="0"/>
                        <a:t> Students who exceed the threshold of allowed absences are subject to penalization.</a:t>
                      </a:r>
                      <a:endParaRPr lang="en-US" sz="1200" b="0" dirty="0">
                        <a:effectLst/>
                      </a:endParaRPr>
                    </a:p>
                    <a:p>
                      <a:pPr marL="0" indent="0">
                        <a:buNone/>
                      </a:pPr>
                      <a:endParaRPr lang="en-US" sz="1200" dirty="0"/>
                    </a:p>
                    <a:p>
                      <a:pPr marL="285750" indent="-285750">
                        <a:buFont typeface="Arial" panose="020B0604020202020204" pitchFamily="34" charset="0"/>
                        <a:buChar char="•"/>
                      </a:pPr>
                      <a:r>
                        <a:rPr lang="en-US" sz="1200" dirty="0"/>
                        <a:t>Course instructors are responsible for consistent, reliable, ethical, and credible attendance taking. </a:t>
                      </a:r>
                    </a:p>
                    <a:p>
                      <a:endParaRPr lang="en-US" dirty="0"/>
                    </a:p>
                  </a:txBody>
                  <a:tcPr/>
                </a:tc>
                <a:tc>
                  <a:txBody>
                    <a:bodyPr/>
                    <a:lstStyle/>
                    <a:p>
                      <a:pPr marL="285750" indent="-285750">
                        <a:buFont typeface="Arial" panose="020B0604020202020204" pitchFamily="34" charset="0"/>
                        <a:buChar char="•"/>
                      </a:pPr>
                      <a:r>
                        <a:rPr lang="en-US" sz="1200" dirty="0"/>
                        <a:t>For Instructors: Physical attendance management are prone to human errors and dilutes learning time</a:t>
                      </a:r>
                    </a:p>
                    <a:p>
                      <a:pPr marL="0" indent="0">
                        <a:buFont typeface="Arial" panose="020B0604020202020204" pitchFamily="34" charset="0"/>
                        <a:buNone/>
                      </a:pPr>
                      <a:endParaRPr lang="en-US" sz="1200" dirty="0"/>
                    </a:p>
                    <a:p>
                      <a:pPr marL="285750" indent="-285750" algn="l">
                        <a:buFont typeface="Wingdings" panose="05000000000000000000" pitchFamily="2" charset="2"/>
                        <a:buChar char="Ø"/>
                      </a:pPr>
                      <a:r>
                        <a:rPr lang="en-US" sz="1200" dirty="0"/>
                        <a:t> Taking attendance during  class, Verifying student’s status </a:t>
                      </a:r>
                    </a:p>
                    <a:p>
                      <a:pPr marL="0" indent="0">
                        <a:buNone/>
                      </a:pPr>
                      <a:endParaRPr lang="en-US" sz="1200" dirty="0"/>
                    </a:p>
                    <a:p>
                      <a:pPr marL="285750" indent="-285750">
                        <a:buFont typeface="Arial" panose="020B0604020202020204" pitchFamily="34" charset="0"/>
                        <a:buChar char="•"/>
                      </a:pPr>
                      <a:r>
                        <a:rPr lang="en-US" sz="1200" dirty="0"/>
                        <a:t>Taking attendance during class can impact student’s academic experience</a:t>
                      </a:r>
                    </a:p>
                    <a:p>
                      <a:endParaRPr lang="en-US" dirty="0"/>
                    </a:p>
                  </a:txBody>
                  <a:tcPr/>
                </a:tc>
                <a:tc>
                  <a:txBody>
                    <a:bodyPr/>
                    <a:lstStyle/>
                    <a:p>
                      <a:pPr marL="171450" indent="-171450">
                        <a:buFont typeface="Arial" panose="020B0604020202020204" pitchFamily="34" charset="0"/>
                        <a:buChar char="•"/>
                      </a:pPr>
                      <a:r>
                        <a:rPr lang="en-US" sz="1200" dirty="0"/>
                        <a:t>Interface will enable course instructors to mark students present and is stored in the university's centralized database.</a:t>
                      </a:r>
                      <a:endParaRPr lang="en-US" sz="1200" b="0" dirty="0">
                        <a:effectLst/>
                      </a:endParaRPr>
                    </a:p>
                    <a:p>
                      <a:pPr marL="0" indent="0">
                        <a:buNone/>
                      </a:pPr>
                      <a:endParaRPr lang="en-US" sz="1200" dirty="0"/>
                    </a:p>
                    <a:p>
                      <a:pPr marL="171450" indent="-171450">
                        <a:buFont typeface="Arial" panose="020B0604020202020204" pitchFamily="34" charset="0"/>
                        <a:buChar char="•"/>
                      </a:pPr>
                      <a:r>
                        <a:rPr lang="en-US" sz="1200" dirty="0"/>
                        <a:t>Each course will provide a unique login for the student.</a:t>
                      </a:r>
                    </a:p>
                    <a:p>
                      <a:pPr marL="0" indent="0">
                        <a:buFont typeface="Arial" panose="020B0604020202020204" pitchFamily="34" charset="0"/>
                        <a:buNone/>
                      </a:pPr>
                      <a:endParaRPr lang="en-US" sz="1200" dirty="0"/>
                    </a:p>
                    <a:p>
                      <a:pPr marL="171450" indent="-171450">
                        <a:buFont typeface="Wingdings" panose="05000000000000000000" pitchFamily="2" charset="2"/>
                        <a:buChar char="Ø"/>
                      </a:pPr>
                      <a:r>
                        <a:rPr lang="en-US" sz="1200" b="0" dirty="0"/>
                        <a:t># of unique logins for # of registered courses</a:t>
                      </a:r>
                    </a:p>
                    <a:p>
                      <a:pPr marL="0" indent="0">
                        <a:buFont typeface="Arial" panose="020B0604020202020204" pitchFamily="34" charset="0"/>
                        <a:buNone/>
                      </a:pPr>
                      <a:endParaRPr lang="en-US" sz="1200" b="0" dirty="0"/>
                    </a:p>
                    <a:p>
                      <a:pPr marL="171450" indent="-171450">
                        <a:buFont typeface="Wingdings" panose="05000000000000000000" pitchFamily="2" charset="2"/>
                        <a:buChar char="Ø"/>
                      </a:pPr>
                      <a:r>
                        <a:rPr lang="en-US" sz="1200" b="0" dirty="0"/>
                        <a:t>The course instructor gets granted access to an interface listing registered students.</a:t>
                      </a:r>
                    </a:p>
                    <a:p>
                      <a:pPr marL="0" indent="0">
                        <a:buFont typeface="Arial" panose="020B0604020202020204" pitchFamily="34" charset="0"/>
                        <a:buNone/>
                      </a:pPr>
                      <a:endParaRPr lang="en-US" sz="1200" b="0" dirty="0"/>
                    </a:p>
                    <a:p>
                      <a:pPr marL="171450" indent="-171450">
                        <a:buFont typeface="Wingdings" panose="05000000000000000000" pitchFamily="2" charset="2"/>
                        <a:buChar char="Ø"/>
                      </a:pPr>
                      <a:r>
                        <a:rPr lang="en-US" sz="1200" b="0" dirty="0"/>
                        <a:t>Instructors are to take attendance for each session of the course, using said list.</a:t>
                      </a:r>
                    </a:p>
                    <a:p>
                      <a:pPr marL="0" indent="0">
                        <a:buFont typeface="Arial" panose="020B0604020202020204" pitchFamily="34" charset="0"/>
                        <a:buNone/>
                      </a:pPr>
                      <a:endParaRPr lang="en-US" sz="1200" b="0" dirty="0"/>
                    </a:p>
                    <a:p>
                      <a:pPr marL="171450" indent="-171450">
                        <a:buFont typeface="Wingdings" panose="05000000000000000000" pitchFamily="2" charset="2"/>
                        <a:buChar char="Ø"/>
                      </a:pPr>
                      <a:r>
                        <a:rPr lang="en-US" sz="1200" b="0" dirty="0"/>
                        <a:t>System administrators can access all attendance data. Administrators can expect to be able to search for attendance by:  Course,   Student</a:t>
                      </a:r>
                    </a:p>
                    <a:p>
                      <a:pPr marL="0" indent="0">
                        <a:buNone/>
                      </a:pPr>
                      <a:endParaRPr lang="en-US" sz="1200" b="0" dirty="0"/>
                    </a:p>
                    <a:p>
                      <a:pPr marL="171450" indent="-171450">
                        <a:buFont typeface="Wingdings" panose="05000000000000000000" pitchFamily="2" charset="2"/>
                        <a:buChar char="Ø"/>
                      </a:pPr>
                      <a:r>
                        <a:rPr lang="en-US" sz="1200" b="0" dirty="0"/>
                        <a:t>The system administrator can generate various excel reports.</a:t>
                      </a:r>
                      <a:r>
                        <a:rPr lang="en-US" b="0" dirty="0"/>
                        <a:t>	</a:t>
                      </a:r>
                    </a:p>
                    <a:p>
                      <a:endParaRPr lang="en-US" dirty="0"/>
                    </a:p>
                  </a:txBody>
                  <a:tcPr/>
                </a:tc>
                <a:extLst>
                  <a:ext uri="{0D108BD9-81ED-4DB2-BD59-A6C34878D82A}">
                    <a16:rowId xmlns:a16="http://schemas.microsoft.com/office/drawing/2014/main" val="166793246"/>
                  </a:ext>
                </a:extLst>
              </a:tr>
            </a:tbl>
          </a:graphicData>
        </a:graphic>
      </p:graphicFrame>
    </p:spTree>
    <p:extLst>
      <p:ext uri="{BB962C8B-B14F-4D97-AF65-F5344CB8AC3E}">
        <p14:creationId xmlns:p14="http://schemas.microsoft.com/office/powerpoint/2010/main" val="401886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5E4B1-2AE9-43E8-9670-2CACD14ACF22}"/>
              </a:ext>
            </a:extLst>
          </p:cNvPr>
          <p:cNvSpPr>
            <a:spLocks noGrp="1"/>
          </p:cNvSpPr>
          <p:nvPr>
            <p:ph type="title"/>
          </p:nvPr>
        </p:nvSpPr>
        <p:spPr>
          <a:xfrm>
            <a:off x="3196207" y="561292"/>
            <a:ext cx="5134062" cy="616386"/>
          </a:xfrm>
        </p:spPr>
        <p:txBody>
          <a:bodyPr>
            <a:normAutofit fontScale="90000"/>
          </a:bodyPr>
          <a:lstStyle/>
          <a:p>
            <a:r>
              <a:rPr lang="en-US" b="1" dirty="0"/>
              <a:t>	</a:t>
            </a:r>
            <a:r>
              <a:rPr lang="en-US" sz="4900" b="1" dirty="0"/>
              <a:t>Project Proposal:</a:t>
            </a:r>
            <a:br>
              <a:rPr lang="en-US" sz="4900" b="1" dirty="0"/>
            </a:br>
            <a:r>
              <a:rPr lang="en-US" b="1" dirty="0"/>
              <a:t>			</a:t>
            </a:r>
            <a:endParaRPr lang="en-US" sz="2400" dirty="0"/>
          </a:p>
        </p:txBody>
      </p:sp>
      <p:graphicFrame>
        <p:nvGraphicFramePr>
          <p:cNvPr id="6" name="Table 6">
            <a:extLst>
              <a:ext uri="{FF2B5EF4-FFF2-40B4-BE49-F238E27FC236}">
                <a16:creationId xmlns:a16="http://schemas.microsoft.com/office/drawing/2014/main" id="{6FE0AB08-E06E-42E6-A0D3-DA091347280E}"/>
              </a:ext>
            </a:extLst>
          </p:cNvPr>
          <p:cNvGraphicFramePr>
            <a:graphicFrameLocks noGrp="1"/>
          </p:cNvGraphicFramePr>
          <p:nvPr>
            <p:ph idx="1"/>
            <p:extLst>
              <p:ext uri="{D42A27DB-BD31-4B8C-83A1-F6EECF244321}">
                <p14:modId xmlns:p14="http://schemas.microsoft.com/office/powerpoint/2010/main" val="2277969025"/>
              </p:ext>
            </p:extLst>
          </p:nvPr>
        </p:nvGraphicFramePr>
        <p:xfrm>
          <a:off x="847288" y="1701948"/>
          <a:ext cx="10506513" cy="4920463"/>
        </p:xfrm>
        <a:graphic>
          <a:graphicData uri="http://schemas.openxmlformats.org/drawingml/2006/table">
            <a:tbl>
              <a:tblPr firstRow="1" bandRow="1">
                <a:tableStyleId>{5940675A-B579-460E-94D1-54222C63F5DA}</a:tableStyleId>
              </a:tblPr>
              <a:tblGrid>
                <a:gridCol w="3539758">
                  <a:extLst>
                    <a:ext uri="{9D8B030D-6E8A-4147-A177-3AD203B41FA5}">
                      <a16:colId xmlns:a16="http://schemas.microsoft.com/office/drawing/2014/main" val="440436502"/>
                    </a:ext>
                  </a:extLst>
                </a:gridCol>
                <a:gridCol w="3548846">
                  <a:extLst>
                    <a:ext uri="{9D8B030D-6E8A-4147-A177-3AD203B41FA5}">
                      <a16:colId xmlns:a16="http://schemas.microsoft.com/office/drawing/2014/main" val="1054259231"/>
                    </a:ext>
                  </a:extLst>
                </a:gridCol>
                <a:gridCol w="3417909">
                  <a:extLst>
                    <a:ext uri="{9D8B030D-6E8A-4147-A177-3AD203B41FA5}">
                      <a16:colId xmlns:a16="http://schemas.microsoft.com/office/drawing/2014/main" val="4266947060"/>
                    </a:ext>
                  </a:extLst>
                </a:gridCol>
              </a:tblGrid>
              <a:tr h="9498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t>Improved</a:t>
                      </a:r>
                      <a:r>
                        <a:rPr lang="en-US" b="1" i="1" dirty="0"/>
                        <a:t> </a:t>
                      </a:r>
                      <a:r>
                        <a:rPr lang="en-US" b="1" i="0" dirty="0"/>
                        <a:t>storage</a:t>
                      </a:r>
                      <a:r>
                        <a:rPr lang="en-US" b="1" i="1" dirty="0"/>
                        <a:t> </a:t>
                      </a:r>
                      <a:r>
                        <a:rPr lang="en-US" b="1" i="0" dirty="0"/>
                        <a:t>capabilities</a:t>
                      </a:r>
                      <a:r>
                        <a:rPr lang="en-US" b="1" i="1" dirty="0"/>
                        <a:t>, </a:t>
                      </a:r>
                      <a:r>
                        <a:rPr lang="en-US" b="1" i="0" dirty="0"/>
                        <a:t>accessibility</a:t>
                      </a:r>
                      <a:r>
                        <a:rPr lang="en-US" b="1" i="1" dirty="0"/>
                        <a:t>, </a:t>
                      </a:r>
                      <a:r>
                        <a:rPr lang="en-US" b="1" i="0" dirty="0"/>
                        <a:t>and</a:t>
                      </a:r>
                      <a:r>
                        <a:rPr lang="en-US" b="1" i="1" dirty="0"/>
                        <a:t> </a:t>
                      </a:r>
                      <a:r>
                        <a:rPr lang="en-US" b="1" i="0" dirty="0"/>
                        <a:t>management</a:t>
                      </a:r>
                      <a:r>
                        <a:rPr lang="en-US" b="1" i="1" dirty="0"/>
                        <a:t> </a:t>
                      </a:r>
                      <a:r>
                        <a:rPr lang="en-US" b="1" i="0" dirty="0"/>
                        <a:t>of</a:t>
                      </a:r>
                      <a:r>
                        <a:rPr lang="en-US" b="1" i="1" dirty="0"/>
                        <a:t> </a:t>
                      </a:r>
                      <a:r>
                        <a:rPr lang="en-US" b="1" i="0" dirty="0"/>
                        <a:t>attendance</a:t>
                      </a:r>
                      <a:r>
                        <a:rPr lang="en-US" b="1" i="1" dirty="0"/>
                        <a:t> </a:t>
                      </a:r>
                      <a:r>
                        <a:rPr lang="en-US" b="1" i="0" dirty="0"/>
                        <a:t>records</a:t>
                      </a:r>
                    </a:p>
                    <a:p>
                      <a:endParaRPr lang="en-US" dirty="0"/>
                    </a:p>
                  </a:txBody>
                  <a:tcPr/>
                </a:tc>
                <a:tc>
                  <a:txBody>
                    <a:bodyPr/>
                    <a:lstStyle/>
                    <a:p>
                      <a:r>
                        <a:rPr lang="en-US" b="1" i="0" dirty="0"/>
                        <a:t>Near elimination of human error from calculations of attendance</a:t>
                      </a:r>
                    </a:p>
                  </a:txBody>
                  <a:tcPr/>
                </a:tc>
                <a:tc>
                  <a:txBody>
                    <a:bodyPr/>
                    <a:lstStyle/>
                    <a:p>
                      <a:r>
                        <a:rPr lang="en-US" b="1" i="0" dirty="0"/>
                        <a:t>Stronger and more consistent implementation of attendance policies</a:t>
                      </a:r>
                    </a:p>
                  </a:txBody>
                  <a:tcPr/>
                </a:tc>
                <a:extLst>
                  <a:ext uri="{0D108BD9-81ED-4DB2-BD59-A6C34878D82A}">
                    <a16:rowId xmlns:a16="http://schemas.microsoft.com/office/drawing/2014/main" val="1752937441"/>
                  </a:ext>
                </a:extLst>
              </a:tr>
              <a:tr h="37317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All attendance data gets stored in the university's centralized database.. System administrators can search for attendance by either course or student. System administrators can also generate excel reports using the data.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system enhances the calculation processes. The attendance data stored centrally can get compiled at any time. The compiled data can output results in desired formats and provide distinct values. For example, the number of excused absences and/or the number of unexcused absences. </a:t>
                      </a:r>
                    </a:p>
                    <a:p>
                      <a:endParaRPr lang="en-US" dirty="0"/>
                    </a:p>
                  </a:txBody>
                  <a:tcPr/>
                </a:tc>
                <a:tc>
                  <a:txBody>
                    <a:bodyPr/>
                    <a:lstStyle/>
                    <a:p>
                      <a:r>
                        <a:rPr lang="en-US" sz="1400" dirty="0"/>
                        <a:t>Central attendance data enables adherence of the university's attendance policies. If a student is close to violating or violates the attendance policy. The system is able to generate an email to the student. The email will include reported attendances for the course. Policy enforcement becomes nearly automated.</a:t>
                      </a:r>
                    </a:p>
                  </a:txBody>
                  <a:tcPr/>
                </a:tc>
                <a:extLst>
                  <a:ext uri="{0D108BD9-81ED-4DB2-BD59-A6C34878D82A}">
                    <a16:rowId xmlns:a16="http://schemas.microsoft.com/office/drawing/2014/main" val="1753237306"/>
                  </a:ext>
                </a:extLst>
              </a:tr>
            </a:tbl>
          </a:graphicData>
        </a:graphic>
      </p:graphicFrame>
      <p:graphicFrame>
        <p:nvGraphicFramePr>
          <p:cNvPr id="3" name="Table 3">
            <a:extLst>
              <a:ext uri="{FF2B5EF4-FFF2-40B4-BE49-F238E27FC236}">
                <a16:creationId xmlns:a16="http://schemas.microsoft.com/office/drawing/2014/main" id="{419A40F1-1AB6-4FCE-9EC9-53D3879C77BD}"/>
              </a:ext>
            </a:extLst>
          </p:cNvPr>
          <p:cNvGraphicFramePr>
            <a:graphicFrameLocks noGrp="1"/>
          </p:cNvGraphicFramePr>
          <p:nvPr>
            <p:extLst>
              <p:ext uri="{D42A27DB-BD31-4B8C-83A1-F6EECF244321}">
                <p14:modId xmlns:p14="http://schemas.microsoft.com/office/powerpoint/2010/main" val="3232751400"/>
              </p:ext>
            </p:extLst>
          </p:nvPr>
        </p:nvGraphicFramePr>
        <p:xfrm>
          <a:off x="847288" y="1216404"/>
          <a:ext cx="10506513" cy="446818"/>
        </p:xfrm>
        <a:graphic>
          <a:graphicData uri="http://schemas.openxmlformats.org/drawingml/2006/table">
            <a:tbl>
              <a:tblPr firstRow="1" bandRow="1">
                <a:tableStyleId>{5940675A-B579-460E-94D1-54222C63F5DA}</a:tableStyleId>
              </a:tblPr>
              <a:tblGrid>
                <a:gridCol w="10506513">
                  <a:extLst>
                    <a:ext uri="{9D8B030D-6E8A-4147-A177-3AD203B41FA5}">
                      <a16:colId xmlns:a16="http://schemas.microsoft.com/office/drawing/2014/main" val="3082393576"/>
                    </a:ext>
                  </a:extLst>
                </a:gridCol>
              </a:tblGrid>
              <a:tr h="446818">
                <a:tc>
                  <a:txBody>
                    <a:bodyPr/>
                    <a:lstStyle/>
                    <a:p>
                      <a:r>
                        <a:rPr lang="en-US" b="1" dirty="0"/>
                        <a:t>                                                                                 Feasibility Analysis</a:t>
                      </a:r>
                    </a:p>
                  </a:txBody>
                  <a:tcPr/>
                </a:tc>
                <a:extLst>
                  <a:ext uri="{0D108BD9-81ED-4DB2-BD59-A6C34878D82A}">
                    <a16:rowId xmlns:a16="http://schemas.microsoft.com/office/drawing/2014/main" val="1012313670"/>
                  </a:ext>
                </a:extLst>
              </a:tr>
            </a:tbl>
          </a:graphicData>
        </a:graphic>
      </p:graphicFrame>
    </p:spTree>
    <p:extLst>
      <p:ext uri="{BB962C8B-B14F-4D97-AF65-F5344CB8AC3E}">
        <p14:creationId xmlns:p14="http://schemas.microsoft.com/office/powerpoint/2010/main" val="2720105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36593-A05A-4744-A2CB-A7E7DF807E51}"/>
              </a:ext>
            </a:extLst>
          </p:cNvPr>
          <p:cNvSpPr>
            <a:spLocks noGrp="1"/>
          </p:cNvSpPr>
          <p:nvPr>
            <p:ph type="title"/>
          </p:nvPr>
        </p:nvSpPr>
        <p:spPr/>
        <p:txBody>
          <a:bodyPr/>
          <a:lstStyle/>
          <a:p>
            <a:r>
              <a:rPr lang="en-US" b="1" dirty="0"/>
              <a:t>				      Users</a:t>
            </a:r>
            <a:endParaRPr lang="en-US" dirty="0"/>
          </a:p>
        </p:txBody>
      </p:sp>
      <p:graphicFrame>
        <p:nvGraphicFramePr>
          <p:cNvPr id="6" name="Table 6">
            <a:extLst>
              <a:ext uri="{FF2B5EF4-FFF2-40B4-BE49-F238E27FC236}">
                <a16:creationId xmlns:a16="http://schemas.microsoft.com/office/drawing/2014/main" id="{AE1FCDB1-DABB-480C-AC38-5C06F0D9F259}"/>
              </a:ext>
            </a:extLst>
          </p:cNvPr>
          <p:cNvGraphicFramePr>
            <a:graphicFrameLocks noGrp="1"/>
          </p:cNvGraphicFramePr>
          <p:nvPr>
            <p:ph idx="1"/>
            <p:extLst>
              <p:ext uri="{D42A27DB-BD31-4B8C-83A1-F6EECF244321}">
                <p14:modId xmlns:p14="http://schemas.microsoft.com/office/powerpoint/2010/main" val="111556017"/>
              </p:ext>
            </p:extLst>
          </p:nvPr>
        </p:nvGraphicFramePr>
        <p:xfrm>
          <a:off x="838203" y="2932972"/>
          <a:ext cx="10515597" cy="37084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2708550269"/>
                    </a:ext>
                  </a:extLst>
                </a:gridCol>
                <a:gridCol w="3505199">
                  <a:extLst>
                    <a:ext uri="{9D8B030D-6E8A-4147-A177-3AD203B41FA5}">
                      <a16:colId xmlns:a16="http://schemas.microsoft.com/office/drawing/2014/main" val="2467966208"/>
                    </a:ext>
                  </a:extLst>
                </a:gridCol>
                <a:gridCol w="3505199">
                  <a:extLst>
                    <a:ext uri="{9D8B030D-6E8A-4147-A177-3AD203B41FA5}">
                      <a16:colId xmlns:a16="http://schemas.microsoft.com/office/drawing/2014/main" val="3685364409"/>
                    </a:ext>
                  </a:extLst>
                </a:gridCol>
              </a:tblGrid>
              <a:tr h="370840">
                <a:tc>
                  <a:txBody>
                    <a:bodyPr/>
                    <a:lstStyle/>
                    <a:p>
                      <a:pPr algn="ctr"/>
                      <a:r>
                        <a:rPr lang="en-US" b="1" dirty="0"/>
                        <a:t>System Administrator</a:t>
                      </a:r>
                    </a:p>
                  </a:txBody>
                  <a:tcPr/>
                </a:tc>
                <a:tc>
                  <a:txBody>
                    <a:bodyPr/>
                    <a:lstStyle/>
                    <a:p>
                      <a:pPr algn="ctr"/>
                      <a:r>
                        <a:rPr lang="en-US" b="1" dirty="0"/>
                        <a:t>Student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Course Instructors</a:t>
                      </a:r>
                    </a:p>
                  </a:txBody>
                  <a:tcPr/>
                </a:tc>
                <a:extLst>
                  <a:ext uri="{0D108BD9-81ED-4DB2-BD59-A6C34878D82A}">
                    <a16:rowId xmlns:a16="http://schemas.microsoft.com/office/drawing/2014/main" val="3006998523"/>
                  </a:ext>
                </a:extLst>
              </a:tr>
            </a:tbl>
          </a:graphicData>
        </a:graphic>
      </p:graphicFrame>
    </p:spTree>
    <p:extLst>
      <p:ext uri="{BB962C8B-B14F-4D97-AF65-F5344CB8AC3E}">
        <p14:creationId xmlns:p14="http://schemas.microsoft.com/office/powerpoint/2010/main" val="4246489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1E2B-45AB-46FE-ABCF-1ED5AB9D0655}"/>
              </a:ext>
            </a:extLst>
          </p:cNvPr>
          <p:cNvSpPr>
            <a:spLocks noGrp="1"/>
          </p:cNvSpPr>
          <p:nvPr>
            <p:ph type="title"/>
          </p:nvPr>
        </p:nvSpPr>
        <p:spPr/>
        <p:txBody>
          <a:bodyPr/>
          <a:lstStyle/>
          <a:p>
            <a:r>
              <a:rPr lang="en-US" b="1" dirty="0"/>
              <a:t>				Requirements</a:t>
            </a:r>
            <a:endParaRPr lang="en-US" dirty="0"/>
          </a:p>
        </p:txBody>
      </p:sp>
      <p:graphicFrame>
        <p:nvGraphicFramePr>
          <p:cNvPr id="4" name="Table 4">
            <a:extLst>
              <a:ext uri="{FF2B5EF4-FFF2-40B4-BE49-F238E27FC236}">
                <a16:creationId xmlns:a16="http://schemas.microsoft.com/office/drawing/2014/main" id="{2ACE6E96-228F-4E9F-B921-ACC1ED813F59}"/>
              </a:ext>
            </a:extLst>
          </p:cNvPr>
          <p:cNvGraphicFramePr>
            <a:graphicFrameLocks noGrp="1"/>
          </p:cNvGraphicFramePr>
          <p:nvPr>
            <p:ph idx="1"/>
            <p:extLst>
              <p:ext uri="{D42A27DB-BD31-4B8C-83A1-F6EECF244321}">
                <p14:modId xmlns:p14="http://schemas.microsoft.com/office/powerpoint/2010/main" val="1968228289"/>
              </p:ext>
            </p:extLst>
          </p:nvPr>
        </p:nvGraphicFramePr>
        <p:xfrm>
          <a:off x="838200" y="1825625"/>
          <a:ext cx="10515600" cy="3417519"/>
        </p:xfrm>
        <a:graphic>
          <a:graphicData uri="http://schemas.openxmlformats.org/drawingml/2006/table">
            <a:tbl>
              <a:tblPr firstRow="1" bandRow="1">
                <a:tableStyleId>{5940675A-B579-460E-94D1-54222C63F5DA}</a:tableStyleId>
              </a:tblPr>
              <a:tblGrid>
                <a:gridCol w="10515600">
                  <a:extLst>
                    <a:ext uri="{9D8B030D-6E8A-4147-A177-3AD203B41FA5}">
                      <a16:colId xmlns:a16="http://schemas.microsoft.com/office/drawing/2014/main" val="3856790663"/>
                    </a:ext>
                  </a:extLst>
                </a:gridCol>
              </a:tblGrid>
              <a:tr h="396777">
                <a:tc>
                  <a:txBody>
                    <a:bodyPr/>
                    <a:lstStyle/>
                    <a:p>
                      <a:pPr rtl="0"/>
                      <a:r>
                        <a:rPr lang="en-US" sz="1800" b="1" i="0" u="none" strike="noStrike" kern="1200" dirty="0">
                          <a:solidFill>
                            <a:schemeClr val="tx1"/>
                          </a:solidFill>
                          <a:effectLst/>
                          <a:latin typeface="+mn-lt"/>
                          <a:ea typeface="+mn-ea"/>
                          <a:cs typeface="+mn-cs"/>
                        </a:rPr>
                        <a:t>Business Requirement</a:t>
                      </a:r>
                      <a:r>
                        <a:rPr lang="en-US" sz="1800" b="0" i="0" u="none" strike="noStrike" kern="1200" dirty="0">
                          <a:solidFill>
                            <a:schemeClr val="tx1"/>
                          </a:solidFill>
                          <a:effectLst/>
                          <a:latin typeface="+mn-lt"/>
                          <a:ea typeface="+mn-ea"/>
                          <a:cs typeface="+mn-cs"/>
                        </a:rPr>
                        <a:t>- Course Instructor must be able to have some sort of internet connection to login</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2324445"/>
                  </a:ext>
                </a:extLst>
              </a:tr>
              <a:tr h="396777">
                <a:tc>
                  <a:txBody>
                    <a:bodyPr/>
                    <a:lstStyle/>
                    <a:p>
                      <a:r>
                        <a:rPr lang="en-US" sz="1800" b="1" i="0" u="none" strike="noStrike" kern="1200" dirty="0">
                          <a:solidFill>
                            <a:schemeClr val="tx1"/>
                          </a:solidFill>
                          <a:effectLst/>
                          <a:latin typeface="+mn-lt"/>
                          <a:ea typeface="+mn-ea"/>
                          <a:cs typeface="+mn-cs"/>
                        </a:rPr>
                        <a:t>Functional</a:t>
                      </a:r>
                      <a:r>
                        <a:rPr lang="en-US" sz="1800" b="0" i="0" u="none" strike="noStrike" kern="1200" dirty="0">
                          <a:solidFill>
                            <a:schemeClr val="tx1"/>
                          </a:solidFill>
                          <a:effectLst/>
                          <a:latin typeface="+mn-lt"/>
                          <a:ea typeface="+mn-ea"/>
                          <a:cs typeface="+mn-cs"/>
                        </a:rPr>
                        <a:t>- The interface must show a list of names of all registered students in the course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1815649"/>
                  </a:ext>
                </a:extLst>
              </a:tr>
              <a:tr h="396777">
                <a:tc>
                  <a:txBody>
                    <a:bodyPr/>
                    <a:lstStyle/>
                    <a:p>
                      <a:r>
                        <a:rPr lang="en-US" sz="1800" b="1" i="0" u="none" strike="noStrike" kern="1200" dirty="0">
                          <a:solidFill>
                            <a:schemeClr val="tx1"/>
                          </a:solidFill>
                          <a:effectLst/>
                          <a:latin typeface="+mn-lt"/>
                          <a:ea typeface="+mn-ea"/>
                          <a:cs typeface="+mn-cs"/>
                        </a:rPr>
                        <a:t>Non-Functional</a:t>
                      </a:r>
                      <a:r>
                        <a:rPr lang="en-US" sz="1800" b="0" i="0" u="none" strike="noStrike" kern="1200" dirty="0">
                          <a:solidFill>
                            <a:schemeClr val="tx1"/>
                          </a:solidFill>
                          <a:effectLst/>
                          <a:latin typeface="+mn-lt"/>
                          <a:ea typeface="+mn-ea"/>
                          <a:cs typeface="+mn-cs"/>
                        </a:rPr>
                        <a:t>- All records must get stored in the University’s database after submitting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40955665"/>
                  </a:ext>
                </a:extLst>
              </a:tr>
              <a:tr h="396777">
                <a:tc>
                  <a:txBody>
                    <a:bodyPr/>
                    <a:lstStyle/>
                    <a:p>
                      <a:pPr rtl="0"/>
                      <a:r>
                        <a:rPr lang="en-US" sz="1800" b="1" i="0" u="none" strike="noStrike" kern="1200" dirty="0">
                          <a:solidFill>
                            <a:schemeClr val="tx1"/>
                          </a:solidFill>
                          <a:effectLst/>
                          <a:latin typeface="+mn-lt"/>
                          <a:ea typeface="+mn-ea"/>
                          <a:cs typeface="+mn-cs"/>
                        </a:rPr>
                        <a:t>Business Requirement</a:t>
                      </a:r>
                      <a:r>
                        <a:rPr lang="en-US" sz="1800" b="0" i="0" u="none" strike="noStrike" kern="1200" dirty="0">
                          <a:solidFill>
                            <a:schemeClr val="tx1"/>
                          </a:solidFill>
                          <a:effectLst/>
                          <a:latin typeface="+mn-lt"/>
                          <a:ea typeface="+mn-ea"/>
                          <a:cs typeface="+mn-cs"/>
                        </a:rPr>
                        <a:t>- Student are required to have unique login information for each course enrolled in</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2625338"/>
                  </a:ext>
                </a:extLst>
              </a:tr>
              <a:tr h="396777">
                <a:tc>
                  <a:txBody>
                    <a:bodyPr/>
                    <a:lstStyle/>
                    <a:p>
                      <a:pPr rtl="0"/>
                      <a:r>
                        <a:rPr lang="en-US" sz="1800" b="1" i="0" u="none" strike="noStrike" kern="1200" dirty="0">
                          <a:solidFill>
                            <a:schemeClr val="tx1"/>
                          </a:solidFill>
                          <a:effectLst/>
                          <a:latin typeface="+mn-lt"/>
                          <a:ea typeface="+mn-ea"/>
                          <a:cs typeface="+mn-cs"/>
                        </a:rPr>
                        <a:t>Non-Functional</a:t>
                      </a:r>
                      <a:r>
                        <a:rPr lang="en-US" sz="1800" b="0" i="0" u="none" strike="noStrike" kern="1200" dirty="0">
                          <a:solidFill>
                            <a:schemeClr val="tx1"/>
                          </a:solidFill>
                          <a:effectLst/>
                          <a:latin typeface="+mn-lt"/>
                          <a:ea typeface="+mn-ea"/>
                          <a:cs typeface="+mn-cs"/>
                        </a:rPr>
                        <a:t>- Course Instructor shall mark the students name as present absent or late with one click to save time</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2183222"/>
                  </a:ext>
                </a:extLst>
              </a:tr>
              <a:tr h="396777">
                <a:tc>
                  <a:txBody>
                    <a:bodyPr/>
                    <a:lstStyle/>
                    <a:p>
                      <a:pPr rtl="0"/>
                      <a:r>
                        <a:rPr lang="en-US" sz="1800" b="1" i="0" u="none" strike="noStrike" kern="1200" dirty="0">
                          <a:solidFill>
                            <a:schemeClr val="tx1"/>
                          </a:solidFill>
                          <a:effectLst/>
                          <a:latin typeface="+mn-lt"/>
                          <a:ea typeface="+mn-ea"/>
                          <a:cs typeface="+mn-cs"/>
                        </a:rPr>
                        <a:t>Functional</a:t>
                      </a:r>
                      <a:r>
                        <a:rPr lang="en-US" sz="1800" b="0" i="0" u="none" strike="noStrike" kern="1200" dirty="0">
                          <a:solidFill>
                            <a:schemeClr val="tx1"/>
                          </a:solidFill>
                          <a:effectLst/>
                          <a:latin typeface="+mn-lt"/>
                          <a:ea typeface="+mn-ea"/>
                          <a:cs typeface="+mn-cs"/>
                        </a:rPr>
                        <a:t>- Course instructor must have credentials to login and access listing information of students</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3894294"/>
                  </a:ext>
                </a:extLst>
              </a:tr>
              <a:tr h="396777">
                <a:tc>
                  <a:txBody>
                    <a:bodyPr/>
                    <a:lstStyle/>
                    <a:p>
                      <a:pPr rtl="0"/>
                      <a:r>
                        <a:rPr lang="en-US" sz="1800" b="1" i="0" u="none" strike="noStrike" kern="1200" dirty="0">
                          <a:solidFill>
                            <a:schemeClr val="tx1"/>
                          </a:solidFill>
                          <a:effectLst/>
                          <a:latin typeface="+mn-lt"/>
                          <a:ea typeface="+mn-ea"/>
                          <a:cs typeface="+mn-cs"/>
                        </a:rPr>
                        <a:t>Business rule</a:t>
                      </a:r>
                      <a:r>
                        <a:rPr lang="en-US" sz="1800" b="0" i="0" u="none" strike="noStrike" kern="1200" dirty="0">
                          <a:solidFill>
                            <a:schemeClr val="tx1"/>
                          </a:solidFill>
                          <a:effectLst/>
                          <a:latin typeface="+mn-lt"/>
                          <a:ea typeface="+mn-ea"/>
                          <a:cs typeface="+mn-cs"/>
                        </a:rPr>
                        <a:t>- Course instructor must be able to take attendance for each session of the course taught</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1760792"/>
                  </a:ext>
                </a:extLst>
              </a:tr>
              <a:tr h="396777">
                <a:tc>
                  <a:txBody>
                    <a:bodyPr/>
                    <a:lstStyle/>
                    <a:p>
                      <a:pPr rtl="0"/>
                      <a:r>
                        <a:rPr lang="en-US" sz="1800" b="1" i="0" u="none" strike="noStrike" kern="1200" dirty="0">
                          <a:solidFill>
                            <a:schemeClr val="tx1"/>
                          </a:solidFill>
                          <a:effectLst/>
                          <a:latin typeface="+mn-lt"/>
                          <a:ea typeface="+mn-ea"/>
                          <a:cs typeface="+mn-cs"/>
                        </a:rPr>
                        <a:t>Functional</a:t>
                      </a:r>
                      <a:r>
                        <a:rPr lang="en-US" sz="1800" b="0" i="0" u="none" strike="noStrike" kern="1200" dirty="0">
                          <a:solidFill>
                            <a:schemeClr val="tx1"/>
                          </a:solidFill>
                          <a:effectLst/>
                          <a:latin typeface="+mn-lt"/>
                          <a:ea typeface="+mn-ea"/>
                          <a:cs typeface="+mn-cs"/>
                        </a:rPr>
                        <a:t>- System administrators shall have all access to the attendance data information</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6702627"/>
                  </a:ext>
                </a:extLst>
              </a:tr>
            </a:tbl>
          </a:graphicData>
        </a:graphic>
      </p:graphicFrame>
      <p:graphicFrame>
        <p:nvGraphicFramePr>
          <p:cNvPr id="6" name="Table 6">
            <a:extLst>
              <a:ext uri="{FF2B5EF4-FFF2-40B4-BE49-F238E27FC236}">
                <a16:creationId xmlns:a16="http://schemas.microsoft.com/office/drawing/2014/main" id="{DC369C46-0D3A-4590-A2F0-391454A21671}"/>
              </a:ext>
            </a:extLst>
          </p:cNvPr>
          <p:cNvGraphicFramePr>
            <a:graphicFrameLocks noGrp="1"/>
          </p:cNvGraphicFramePr>
          <p:nvPr>
            <p:extLst>
              <p:ext uri="{D42A27DB-BD31-4B8C-83A1-F6EECF244321}">
                <p14:modId xmlns:p14="http://schemas.microsoft.com/office/powerpoint/2010/main" val="2548876569"/>
              </p:ext>
            </p:extLst>
          </p:nvPr>
        </p:nvGraphicFramePr>
        <p:xfrm>
          <a:off x="838200" y="5243144"/>
          <a:ext cx="10515600" cy="1005840"/>
        </p:xfrm>
        <a:graphic>
          <a:graphicData uri="http://schemas.openxmlformats.org/drawingml/2006/table">
            <a:tbl>
              <a:tblPr firstRow="1" bandRow="1">
                <a:tableStyleId>{5940675A-B579-460E-94D1-54222C63F5DA}</a:tableStyleId>
              </a:tblPr>
              <a:tblGrid>
                <a:gridCol w="10515600">
                  <a:extLst>
                    <a:ext uri="{9D8B030D-6E8A-4147-A177-3AD203B41FA5}">
                      <a16:colId xmlns:a16="http://schemas.microsoft.com/office/drawing/2014/main" val="2257787700"/>
                    </a:ext>
                  </a:extLst>
                </a:gridCol>
              </a:tblGrid>
              <a:tr h="224199">
                <a:tc>
                  <a:txBody>
                    <a:bodyPr/>
                    <a:lstStyle/>
                    <a:p>
                      <a:pPr rtl="0"/>
                      <a:r>
                        <a:rPr lang="en-US" sz="1800" b="1" i="0" u="none" strike="noStrike" kern="1200" dirty="0">
                          <a:solidFill>
                            <a:schemeClr val="tx1"/>
                          </a:solidFill>
                          <a:effectLst/>
                          <a:latin typeface="+mn-lt"/>
                          <a:ea typeface="+mn-ea"/>
                          <a:cs typeface="+mn-cs"/>
                        </a:rPr>
                        <a:t>Functional</a:t>
                      </a:r>
                      <a:r>
                        <a:rPr lang="en-US" sz="1800" b="0" i="0" u="none" strike="noStrike" kern="1200" dirty="0">
                          <a:solidFill>
                            <a:schemeClr val="tx1"/>
                          </a:solidFill>
                          <a:effectLst/>
                          <a:latin typeface="+mn-lt"/>
                          <a:ea typeface="+mn-ea"/>
                          <a:cs typeface="+mn-cs"/>
                        </a:rPr>
                        <a:t>- System administrators are required to be able to search attendance by the course or student when needed</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01405356"/>
                  </a:ext>
                </a:extLst>
              </a:tr>
              <a:tr h="128114">
                <a:tc>
                  <a:txBody>
                    <a:bodyPr/>
                    <a:lstStyle/>
                    <a:p>
                      <a:pPr rtl="0"/>
                      <a:r>
                        <a:rPr lang="en-US" sz="1800" b="1" i="0" u="none" strike="noStrike" kern="1200" dirty="0">
                          <a:solidFill>
                            <a:schemeClr val="tx1"/>
                          </a:solidFill>
                          <a:effectLst/>
                          <a:latin typeface="+mn-lt"/>
                          <a:ea typeface="+mn-ea"/>
                          <a:cs typeface="+mn-cs"/>
                        </a:rPr>
                        <a:t>Non-Functional</a:t>
                      </a:r>
                      <a:r>
                        <a:rPr lang="en-US" sz="1800" b="0" i="0" u="none" strike="noStrike" kern="1200" dirty="0">
                          <a:solidFill>
                            <a:schemeClr val="tx1"/>
                          </a:solidFill>
                          <a:effectLst/>
                          <a:latin typeface="+mn-lt"/>
                          <a:ea typeface="+mn-ea"/>
                          <a:cs typeface="+mn-cs"/>
                        </a:rPr>
                        <a:t>- System administrators must generate all kinds of excel reports when needed from the system</a:t>
                      </a:r>
                      <a:endParaRPr lang="en-US"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5185993"/>
                  </a:ext>
                </a:extLst>
              </a:tr>
            </a:tbl>
          </a:graphicData>
        </a:graphic>
      </p:graphicFrame>
    </p:spTree>
    <p:extLst>
      <p:ext uri="{BB962C8B-B14F-4D97-AF65-F5344CB8AC3E}">
        <p14:creationId xmlns:p14="http://schemas.microsoft.com/office/powerpoint/2010/main" val="3818469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63B9-14CA-47CF-87BF-A2F51070164C}"/>
              </a:ext>
            </a:extLst>
          </p:cNvPr>
          <p:cNvSpPr>
            <a:spLocks noGrp="1"/>
          </p:cNvSpPr>
          <p:nvPr>
            <p:ph type="title"/>
          </p:nvPr>
        </p:nvSpPr>
        <p:spPr/>
        <p:txBody>
          <a:bodyPr>
            <a:normAutofit fontScale="90000"/>
          </a:bodyPr>
          <a:lstStyle/>
          <a:p>
            <a:br>
              <a:rPr lang="en-US" b="1" dirty="0"/>
            </a:br>
            <a:br>
              <a:rPr lang="en-US" b="1" dirty="0"/>
            </a:br>
            <a:r>
              <a:rPr lang="en-US" b="1" dirty="0"/>
              <a:t>		</a:t>
            </a:r>
            <a:r>
              <a:rPr lang="en-US" sz="4900" b="1" dirty="0"/>
              <a:t>Assumptions/Constraints/Risks</a:t>
            </a:r>
            <a:br>
              <a:rPr lang="en-US" b="0" dirty="0">
                <a:effectLst/>
              </a:rPr>
            </a:br>
            <a:br>
              <a:rPr lang="en-US" dirty="0"/>
            </a:br>
            <a:endParaRPr lang="en-US" dirty="0"/>
          </a:p>
        </p:txBody>
      </p:sp>
      <p:graphicFrame>
        <p:nvGraphicFramePr>
          <p:cNvPr id="4" name="Table 4">
            <a:extLst>
              <a:ext uri="{FF2B5EF4-FFF2-40B4-BE49-F238E27FC236}">
                <a16:creationId xmlns:a16="http://schemas.microsoft.com/office/drawing/2014/main" id="{5A43790F-7DC1-4EAB-9C3A-E9C7B227C490}"/>
              </a:ext>
            </a:extLst>
          </p:cNvPr>
          <p:cNvGraphicFramePr>
            <a:graphicFrameLocks noGrp="1"/>
          </p:cNvGraphicFramePr>
          <p:nvPr>
            <p:ph idx="1"/>
            <p:extLst>
              <p:ext uri="{D42A27DB-BD31-4B8C-83A1-F6EECF244321}">
                <p14:modId xmlns:p14="http://schemas.microsoft.com/office/powerpoint/2010/main" val="3257532004"/>
              </p:ext>
            </p:extLst>
          </p:nvPr>
        </p:nvGraphicFramePr>
        <p:xfrm>
          <a:off x="838200" y="2354131"/>
          <a:ext cx="10515600" cy="1854200"/>
        </p:xfrm>
        <a:graphic>
          <a:graphicData uri="http://schemas.openxmlformats.org/drawingml/2006/table">
            <a:tbl>
              <a:tblPr firstRow="1" bandRow="1">
                <a:tableStyleId>{5940675A-B579-460E-94D1-54222C63F5DA}</a:tableStyleId>
              </a:tblPr>
              <a:tblGrid>
                <a:gridCol w="10515600">
                  <a:extLst>
                    <a:ext uri="{9D8B030D-6E8A-4147-A177-3AD203B41FA5}">
                      <a16:colId xmlns:a16="http://schemas.microsoft.com/office/drawing/2014/main" val="3963954884"/>
                    </a:ext>
                  </a:extLst>
                </a:gridCol>
              </a:tblGrid>
              <a:tr h="370840">
                <a:tc>
                  <a:txBody>
                    <a:bodyPr/>
                    <a:lstStyle/>
                    <a:p>
                      <a:pPr rtl="0"/>
                      <a:r>
                        <a:rPr lang="en-US" sz="1800" b="1" i="0" u="none" strike="noStrike" kern="1200" dirty="0">
                          <a:solidFill>
                            <a:schemeClr val="tx1"/>
                          </a:solidFill>
                          <a:effectLst/>
                          <a:latin typeface="+mn-lt"/>
                          <a:ea typeface="+mn-ea"/>
                          <a:cs typeface="+mn-cs"/>
                        </a:rPr>
                        <a:t>Assumption</a:t>
                      </a:r>
                      <a:r>
                        <a:rPr lang="en-US" sz="1800" b="0" i="0" u="none" strike="noStrike" kern="1200" dirty="0">
                          <a:solidFill>
                            <a:schemeClr val="tx1"/>
                          </a:solidFill>
                          <a:effectLst/>
                          <a:latin typeface="+mn-lt"/>
                          <a:ea typeface="+mn-ea"/>
                          <a:cs typeface="+mn-cs"/>
                        </a:rPr>
                        <a:t>- The system is user friendly for everyone that uses it</a:t>
                      </a:r>
                      <a:endParaRPr lang="en-US" b="0" dirty="0">
                        <a:effectLst/>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6739471"/>
                  </a:ext>
                </a:extLst>
              </a:tr>
              <a:tr h="370840">
                <a:tc>
                  <a:txBody>
                    <a:bodyPr/>
                    <a:lstStyle/>
                    <a:p>
                      <a:r>
                        <a:rPr lang="en-US" sz="1800" b="1" i="0" u="none" strike="noStrike" kern="1200" dirty="0">
                          <a:solidFill>
                            <a:schemeClr val="tx1"/>
                          </a:solidFill>
                          <a:effectLst/>
                          <a:latin typeface="+mn-lt"/>
                          <a:ea typeface="+mn-ea"/>
                          <a:cs typeface="+mn-cs"/>
                        </a:rPr>
                        <a:t>Constraint</a:t>
                      </a:r>
                      <a:r>
                        <a:rPr lang="en-US" sz="1800" b="0" i="0" u="none" strike="noStrike" kern="1200" dirty="0">
                          <a:solidFill>
                            <a:schemeClr val="tx1"/>
                          </a:solidFill>
                          <a:effectLst/>
                          <a:latin typeface="+mn-lt"/>
                          <a:ea typeface="+mn-ea"/>
                          <a:cs typeface="+mn-cs"/>
                        </a:rPr>
                        <a:t>- It must always have internet connection to connect to the database</a:t>
                      </a:r>
                      <a:endParaRPr lang="en-US"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9462802"/>
                  </a:ext>
                </a:extLst>
              </a:tr>
              <a:tr h="370840">
                <a:tc>
                  <a:txBody>
                    <a:bodyPr/>
                    <a:lstStyle/>
                    <a:p>
                      <a:pPr rtl="0"/>
                      <a:r>
                        <a:rPr lang="en-US" sz="1800" b="1" i="0" u="none" strike="noStrike" kern="1200" dirty="0">
                          <a:solidFill>
                            <a:schemeClr val="tx1"/>
                          </a:solidFill>
                          <a:effectLst/>
                          <a:latin typeface="+mn-lt"/>
                          <a:ea typeface="+mn-ea"/>
                          <a:cs typeface="+mn-cs"/>
                        </a:rPr>
                        <a:t>Constraint</a:t>
                      </a:r>
                      <a:r>
                        <a:rPr lang="en-US" sz="1800" b="0" i="0" u="none" strike="noStrike" kern="1200" dirty="0">
                          <a:solidFill>
                            <a:schemeClr val="tx1"/>
                          </a:solidFill>
                          <a:effectLst/>
                          <a:latin typeface="+mn-lt"/>
                          <a:ea typeface="+mn-ea"/>
                          <a:cs typeface="+mn-cs"/>
                        </a:rPr>
                        <a:t>- students who registered late, names will not be listed for the first few weeks of the semester</a:t>
                      </a:r>
                      <a:endParaRPr lang="en-US" b="0" dirty="0">
                        <a:effectLst/>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2797548"/>
                  </a:ext>
                </a:extLst>
              </a:tr>
              <a:tr h="370840">
                <a:tc>
                  <a:txBody>
                    <a:bodyPr/>
                    <a:lstStyle/>
                    <a:p>
                      <a:pPr rtl="0"/>
                      <a:r>
                        <a:rPr lang="en-US" sz="1800" b="1" i="0" u="none" strike="noStrike" kern="1200" dirty="0">
                          <a:solidFill>
                            <a:schemeClr val="tx1"/>
                          </a:solidFill>
                          <a:effectLst/>
                          <a:latin typeface="+mn-lt"/>
                          <a:ea typeface="+mn-ea"/>
                          <a:cs typeface="+mn-cs"/>
                        </a:rPr>
                        <a:t>Risk</a:t>
                      </a:r>
                      <a:r>
                        <a:rPr lang="en-US" sz="1800" b="0" i="0" u="none" strike="noStrike" kern="1200" dirty="0">
                          <a:solidFill>
                            <a:schemeClr val="tx1"/>
                          </a:solidFill>
                          <a:effectLst/>
                          <a:latin typeface="+mn-lt"/>
                          <a:ea typeface="+mn-ea"/>
                          <a:cs typeface="+mn-cs"/>
                        </a:rPr>
                        <a:t>- The system might crash and lose data that was stored</a:t>
                      </a:r>
                      <a:endParaRPr lang="en-US" b="0" dirty="0">
                        <a:effectLst/>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513367"/>
                  </a:ext>
                </a:extLst>
              </a:tr>
              <a:tr h="370840">
                <a:tc>
                  <a:txBody>
                    <a:bodyPr/>
                    <a:lstStyle/>
                    <a:p>
                      <a:pPr rtl="0"/>
                      <a:r>
                        <a:rPr lang="en-US" sz="1800" b="1" i="0" u="none" strike="noStrike" kern="1200" dirty="0">
                          <a:solidFill>
                            <a:schemeClr val="tx1"/>
                          </a:solidFill>
                          <a:effectLst/>
                          <a:latin typeface="+mn-lt"/>
                          <a:ea typeface="+mn-ea"/>
                          <a:cs typeface="+mn-cs"/>
                        </a:rPr>
                        <a:t>Risk</a:t>
                      </a:r>
                      <a:r>
                        <a:rPr lang="en-US" sz="1800" b="0" i="0" u="none" strike="noStrike" kern="1200" dirty="0">
                          <a:solidFill>
                            <a:schemeClr val="tx1"/>
                          </a:solidFill>
                          <a:effectLst/>
                          <a:latin typeface="+mn-lt"/>
                          <a:ea typeface="+mn-ea"/>
                          <a:cs typeface="+mn-cs"/>
                        </a:rPr>
                        <a:t>- confidentiality and security issues might be compromised</a:t>
                      </a:r>
                      <a:endParaRPr lang="en-US" b="0" dirty="0">
                        <a:effectLst/>
                      </a:endParaRP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195287"/>
                  </a:ext>
                </a:extLst>
              </a:tr>
            </a:tbl>
          </a:graphicData>
        </a:graphic>
      </p:graphicFrame>
    </p:spTree>
    <p:extLst>
      <p:ext uri="{BB962C8B-B14F-4D97-AF65-F5344CB8AC3E}">
        <p14:creationId xmlns:p14="http://schemas.microsoft.com/office/powerpoint/2010/main" val="4101473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F8F0-0BA0-46E1-ABDB-53FD9AC88657}"/>
              </a:ext>
            </a:extLst>
          </p:cNvPr>
          <p:cNvSpPr>
            <a:spLocks noGrp="1"/>
          </p:cNvSpPr>
          <p:nvPr>
            <p:ph type="title"/>
          </p:nvPr>
        </p:nvSpPr>
        <p:spPr>
          <a:xfrm>
            <a:off x="1517506" y="2833543"/>
            <a:ext cx="1918022" cy="595457"/>
          </a:xfrm>
        </p:spPr>
        <p:txBody>
          <a:bodyPr>
            <a:normAutofit/>
          </a:bodyPr>
          <a:lstStyle/>
          <a:p>
            <a:pPr algn="ctr"/>
            <a:r>
              <a:rPr lang="en-US" sz="1600" b="1" dirty="0"/>
              <a:t>Systems Analysis:</a:t>
            </a:r>
            <a:br>
              <a:rPr lang="en-US" sz="1600" b="1" dirty="0"/>
            </a:br>
            <a:r>
              <a:rPr lang="en-US" sz="1600" dirty="0"/>
              <a:t>Usage Model</a:t>
            </a:r>
          </a:p>
        </p:txBody>
      </p:sp>
      <p:pic>
        <p:nvPicPr>
          <p:cNvPr id="6" name="Content Placeholder 5" descr="Mankb">
            <a:extLst>
              <a:ext uri="{FF2B5EF4-FFF2-40B4-BE49-F238E27FC236}">
                <a16:creationId xmlns:a16="http://schemas.microsoft.com/office/drawing/2014/main" id="{03C21992-3D1D-43B4-AA78-178C65556E0D}"/>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86193" y="2231689"/>
            <a:ext cx="914400" cy="914400"/>
          </a:xfrm>
        </p:spPr>
      </p:pic>
      <p:sp>
        <p:nvSpPr>
          <p:cNvPr id="4" name="Oval 3">
            <a:extLst>
              <a:ext uri="{FF2B5EF4-FFF2-40B4-BE49-F238E27FC236}">
                <a16:creationId xmlns:a16="http://schemas.microsoft.com/office/drawing/2014/main" id="{9C487262-24AF-40DE-96CB-5A2D395C5533}"/>
              </a:ext>
            </a:extLst>
          </p:cNvPr>
          <p:cNvSpPr/>
          <p:nvPr/>
        </p:nvSpPr>
        <p:spPr>
          <a:xfrm>
            <a:off x="8682416" y="1149892"/>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Take Attendance for each session</a:t>
            </a:r>
          </a:p>
        </p:txBody>
      </p:sp>
      <p:sp>
        <p:nvSpPr>
          <p:cNvPr id="10" name="Oval 9">
            <a:extLst>
              <a:ext uri="{FF2B5EF4-FFF2-40B4-BE49-F238E27FC236}">
                <a16:creationId xmlns:a16="http://schemas.microsoft.com/office/drawing/2014/main" id="{3AC6C735-755C-4752-A60C-E22C774454E7}"/>
              </a:ext>
            </a:extLst>
          </p:cNvPr>
          <p:cNvSpPr/>
          <p:nvPr/>
        </p:nvSpPr>
        <p:spPr>
          <a:xfrm>
            <a:off x="5979062" y="1978531"/>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Sign up for Attendance</a:t>
            </a:r>
          </a:p>
        </p:txBody>
      </p:sp>
      <p:sp>
        <p:nvSpPr>
          <p:cNvPr id="11" name="Oval 10">
            <a:extLst>
              <a:ext uri="{FF2B5EF4-FFF2-40B4-BE49-F238E27FC236}">
                <a16:creationId xmlns:a16="http://schemas.microsoft.com/office/drawing/2014/main" id="{487D5FB7-CBAD-467C-8BCD-FAE8258E8A35}"/>
              </a:ext>
            </a:extLst>
          </p:cNvPr>
          <p:cNvSpPr/>
          <p:nvPr/>
        </p:nvSpPr>
        <p:spPr>
          <a:xfrm>
            <a:off x="9217139" y="2026019"/>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View list of registered Students</a:t>
            </a:r>
          </a:p>
        </p:txBody>
      </p:sp>
      <p:sp>
        <p:nvSpPr>
          <p:cNvPr id="12" name="Oval 11">
            <a:extLst>
              <a:ext uri="{FF2B5EF4-FFF2-40B4-BE49-F238E27FC236}">
                <a16:creationId xmlns:a16="http://schemas.microsoft.com/office/drawing/2014/main" id="{5FC98C60-3B63-4DBA-822A-17CD7229762A}"/>
              </a:ext>
            </a:extLst>
          </p:cNvPr>
          <p:cNvSpPr/>
          <p:nvPr/>
        </p:nvSpPr>
        <p:spPr>
          <a:xfrm>
            <a:off x="8796193" y="3319038"/>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Access attendance</a:t>
            </a:r>
          </a:p>
          <a:p>
            <a:pPr algn="ctr"/>
            <a:r>
              <a:rPr lang="en-US" sz="900" dirty="0">
                <a:solidFill>
                  <a:schemeClr val="tx1"/>
                </a:solidFill>
              </a:rPr>
              <a:t>data</a:t>
            </a:r>
          </a:p>
        </p:txBody>
      </p:sp>
      <p:sp>
        <p:nvSpPr>
          <p:cNvPr id="13" name="Oval 12">
            <a:extLst>
              <a:ext uri="{FF2B5EF4-FFF2-40B4-BE49-F238E27FC236}">
                <a16:creationId xmlns:a16="http://schemas.microsoft.com/office/drawing/2014/main" id="{18FC2363-B370-44E9-9994-4D54B58894A0}"/>
              </a:ext>
            </a:extLst>
          </p:cNvPr>
          <p:cNvSpPr/>
          <p:nvPr/>
        </p:nvSpPr>
        <p:spPr>
          <a:xfrm>
            <a:off x="7628286" y="2553691"/>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Login to system</a:t>
            </a:r>
          </a:p>
        </p:txBody>
      </p:sp>
      <p:sp>
        <p:nvSpPr>
          <p:cNvPr id="14" name="Oval 13">
            <a:extLst>
              <a:ext uri="{FF2B5EF4-FFF2-40B4-BE49-F238E27FC236}">
                <a16:creationId xmlns:a16="http://schemas.microsoft.com/office/drawing/2014/main" id="{2134CD2C-19AA-4760-8106-1DCB62A7C492}"/>
              </a:ext>
            </a:extLst>
          </p:cNvPr>
          <p:cNvSpPr/>
          <p:nvPr/>
        </p:nvSpPr>
        <p:spPr>
          <a:xfrm>
            <a:off x="7354669" y="3927161"/>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Search for attendance</a:t>
            </a:r>
          </a:p>
          <a:p>
            <a:pPr algn="ctr"/>
            <a:r>
              <a:rPr lang="en-US" sz="900" dirty="0">
                <a:solidFill>
                  <a:schemeClr val="tx1"/>
                </a:solidFill>
              </a:rPr>
              <a:t>By class</a:t>
            </a:r>
          </a:p>
        </p:txBody>
      </p:sp>
      <p:sp>
        <p:nvSpPr>
          <p:cNvPr id="15" name="Oval 14">
            <a:extLst>
              <a:ext uri="{FF2B5EF4-FFF2-40B4-BE49-F238E27FC236}">
                <a16:creationId xmlns:a16="http://schemas.microsoft.com/office/drawing/2014/main" id="{F27E40C6-4CA4-4DC1-BEBF-FE9EE6C9848F}"/>
              </a:ext>
            </a:extLst>
          </p:cNvPr>
          <p:cNvSpPr/>
          <p:nvPr/>
        </p:nvSpPr>
        <p:spPr>
          <a:xfrm>
            <a:off x="7321177" y="5075181"/>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Generate Excel reports</a:t>
            </a:r>
          </a:p>
        </p:txBody>
      </p:sp>
      <p:sp>
        <p:nvSpPr>
          <p:cNvPr id="16" name="Oval 15">
            <a:extLst>
              <a:ext uri="{FF2B5EF4-FFF2-40B4-BE49-F238E27FC236}">
                <a16:creationId xmlns:a16="http://schemas.microsoft.com/office/drawing/2014/main" id="{1A16693B-4E27-4DBF-B887-D40BAD99AFDD}"/>
              </a:ext>
            </a:extLst>
          </p:cNvPr>
          <p:cNvSpPr/>
          <p:nvPr/>
        </p:nvSpPr>
        <p:spPr>
          <a:xfrm>
            <a:off x="5988299" y="4309834"/>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Search for attendance by Student</a:t>
            </a:r>
          </a:p>
        </p:txBody>
      </p:sp>
      <p:sp>
        <p:nvSpPr>
          <p:cNvPr id="17" name="Oval 16">
            <a:extLst>
              <a:ext uri="{FF2B5EF4-FFF2-40B4-BE49-F238E27FC236}">
                <a16:creationId xmlns:a16="http://schemas.microsoft.com/office/drawing/2014/main" id="{A67496E2-E035-41DF-BD46-865F72D3B3B3}"/>
              </a:ext>
            </a:extLst>
          </p:cNvPr>
          <p:cNvSpPr/>
          <p:nvPr/>
        </p:nvSpPr>
        <p:spPr>
          <a:xfrm>
            <a:off x="6949473" y="1163019"/>
            <a:ext cx="1054130" cy="76534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View Registered Classes</a:t>
            </a:r>
          </a:p>
        </p:txBody>
      </p:sp>
      <p:sp>
        <p:nvSpPr>
          <p:cNvPr id="19" name="Rectangle 18">
            <a:extLst>
              <a:ext uri="{FF2B5EF4-FFF2-40B4-BE49-F238E27FC236}">
                <a16:creationId xmlns:a16="http://schemas.microsoft.com/office/drawing/2014/main" id="{F0745692-3F84-4C67-BD84-15E6E94CC193}"/>
              </a:ext>
            </a:extLst>
          </p:cNvPr>
          <p:cNvSpPr/>
          <p:nvPr/>
        </p:nvSpPr>
        <p:spPr>
          <a:xfrm>
            <a:off x="5859616" y="656438"/>
            <a:ext cx="4832144" cy="54276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7C16EA14-F092-4C25-B1E8-517059CE9344}"/>
              </a:ext>
            </a:extLst>
          </p:cNvPr>
          <p:cNvCxnSpPr>
            <a:cxnSpLocks/>
            <a:endCxn id="4" idx="6"/>
          </p:cNvCxnSpPr>
          <p:nvPr/>
        </p:nvCxnSpPr>
        <p:spPr>
          <a:xfrm flipH="1">
            <a:off x="9736546" y="1441227"/>
            <a:ext cx="1506989" cy="91339"/>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F0986007-CFA5-49C9-B5CF-8108F9FFDE65}"/>
              </a:ext>
            </a:extLst>
          </p:cNvPr>
          <p:cNvCxnSpPr>
            <a:cxnSpLocks/>
            <a:endCxn id="11" idx="6"/>
          </p:cNvCxnSpPr>
          <p:nvPr/>
        </p:nvCxnSpPr>
        <p:spPr>
          <a:xfrm flipH="1">
            <a:off x="10271269" y="1812022"/>
            <a:ext cx="793810" cy="596671"/>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0725002-51F4-4A60-AF1C-C7C827B777C6}"/>
              </a:ext>
            </a:extLst>
          </p:cNvPr>
          <p:cNvCxnSpPr>
            <a:cxnSpLocks/>
            <a:endCxn id="12" idx="6"/>
          </p:cNvCxnSpPr>
          <p:nvPr/>
        </p:nvCxnSpPr>
        <p:spPr>
          <a:xfrm flipH="1">
            <a:off x="9850323" y="1812022"/>
            <a:ext cx="1214756" cy="188969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99070A5A-D8B0-4896-85AC-FF814FA07E6B}"/>
              </a:ext>
            </a:extLst>
          </p:cNvPr>
          <p:cNvCxnSpPr>
            <a:cxnSpLocks/>
            <a:stCxn id="12" idx="6"/>
          </p:cNvCxnSpPr>
          <p:nvPr/>
        </p:nvCxnSpPr>
        <p:spPr>
          <a:xfrm>
            <a:off x="9850323" y="3701712"/>
            <a:ext cx="1420812" cy="493453"/>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FDE7CBF1-8DD3-41F7-9905-62FDBE675F37}"/>
              </a:ext>
            </a:extLst>
          </p:cNvPr>
          <p:cNvCxnSpPr>
            <a:cxnSpLocks/>
            <a:stCxn id="14" idx="6"/>
          </p:cNvCxnSpPr>
          <p:nvPr/>
        </p:nvCxnSpPr>
        <p:spPr>
          <a:xfrm>
            <a:off x="8408799" y="4309835"/>
            <a:ext cx="2796312" cy="44002"/>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704BB983-018B-4EF1-878D-C3A0E5533E66}"/>
              </a:ext>
            </a:extLst>
          </p:cNvPr>
          <p:cNvCxnSpPr>
            <a:cxnSpLocks/>
            <a:stCxn id="15" idx="6"/>
          </p:cNvCxnSpPr>
          <p:nvPr/>
        </p:nvCxnSpPr>
        <p:spPr>
          <a:xfrm flipV="1">
            <a:off x="8375307" y="4402494"/>
            <a:ext cx="2868228" cy="1055361"/>
          </a:xfrm>
          <a:prstGeom prst="line">
            <a:avLst/>
          </a:prstGeom>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F6785F13-1F78-4E8E-9E24-0DD936D12D19}"/>
              </a:ext>
            </a:extLst>
          </p:cNvPr>
          <p:cNvSpPr txBox="1"/>
          <p:nvPr/>
        </p:nvSpPr>
        <p:spPr>
          <a:xfrm>
            <a:off x="11007578" y="2249294"/>
            <a:ext cx="693198" cy="369332"/>
          </a:xfrm>
          <a:prstGeom prst="rect">
            <a:avLst/>
          </a:prstGeom>
          <a:noFill/>
        </p:spPr>
        <p:txBody>
          <a:bodyPr wrap="square" rtlCol="0">
            <a:spAutoFit/>
          </a:bodyPr>
          <a:lstStyle/>
          <a:p>
            <a:r>
              <a:rPr lang="en-US" sz="900" dirty="0"/>
              <a:t>Course Instructor</a:t>
            </a:r>
          </a:p>
        </p:txBody>
      </p:sp>
      <p:sp>
        <p:nvSpPr>
          <p:cNvPr id="36" name="TextBox 35">
            <a:extLst>
              <a:ext uri="{FF2B5EF4-FFF2-40B4-BE49-F238E27FC236}">
                <a16:creationId xmlns:a16="http://schemas.microsoft.com/office/drawing/2014/main" id="{3B7DF407-ABCB-4A93-9F48-F210F6915076}"/>
              </a:ext>
            </a:extLst>
          </p:cNvPr>
          <p:cNvSpPr txBox="1"/>
          <p:nvPr/>
        </p:nvSpPr>
        <p:spPr>
          <a:xfrm>
            <a:off x="10929427" y="4781326"/>
            <a:ext cx="859531" cy="230832"/>
          </a:xfrm>
          <a:prstGeom prst="rect">
            <a:avLst/>
          </a:prstGeom>
          <a:noFill/>
        </p:spPr>
        <p:txBody>
          <a:bodyPr wrap="none" rtlCol="0">
            <a:spAutoFit/>
          </a:bodyPr>
          <a:lstStyle/>
          <a:p>
            <a:r>
              <a:rPr lang="en-US" sz="900" dirty="0"/>
              <a:t>System Admin</a:t>
            </a:r>
          </a:p>
        </p:txBody>
      </p:sp>
      <p:sp>
        <p:nvSpPr>
          <p:cNvPr id="37" name="TextBox 36">
            <a:extLst>
              <a:ext uri="{FF2B5EF4-FFF2-40B4-BE49-F238E27FC236}">
                <a16:creationId xmlns:a16="http://schemas.microsoft.com/office/drawing/2014/main" id="{789655AC-B7C2-4770-9BB2-DAC9271C4659}"/>
              </a:ext>
            </a:extLst>
          </p:cNvPr>
          <p:cNvSpPr txBox="1"/>
          <p:nvPr/>
        </p:nvSpPr>
        <p:spPr>
          <a:xfrm>
            <a:off x="4791305" y="3198168"/>
            <a:ext cx="554960" cy="230832"/>
          </a:xfrm>
          <a:prstGeom prst="rect">
            <a:avLst/>
          </a:prstGeom>
          <a:noFill/>
        </p:spPr>
        <p:txBody>
          <a:bodyPr wrap="none" rtlCol="0">
            <a:spAutoFit/>
          </a:bodyPr>
          <a:lstStyle/>
          <a:p>
            <a:r>
              <a:rPr lang="en-US" sz="900" dirty="0"/>
              <a:t>Student</a:t>
            </a:r>
          </a:p>
        </p:txBody>
      </p:sp>
      <p:cxnSp>
        <p:nvCxnSpPr>
          <p:cNvPr id="38" name="Straight Arrow Connector 37">
            <a:extLst>
              <a:ext uri="{FF2B5EF4-FFF2-40B4-BE49-F238E27FC236}">
                <a16:creationId xmlns:a16="http://schemas.microsoft.com/office/drawing/2014/main" id="{9E0EBE2E-B3EB-4D7A-9A85-2B37E908F064}"/>
              </a:ext>
            </a:extLst>
          </p:cNvPr>
          <p:cNvCxnSpPr>
            <a:cxnSpLocks/>
            <a:endCxn id="10" idx="2"/>
          </p:cNvCxnSpPr>
          <p:nvPr/>
        </p:nvCxnSpPr>
        <p:spPr>
          <a:xfrm flipV="1">
            <a:off x="5205457" y="2361205"/>
            <a:ext cx="773605" cy="257421"/>
          </a:xfrm>
          <a:prstGeom prst="straightConnector1">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62EDAE76-8309-47E7-8B32-9D10064895D9}"/>
              </a:ext>
            </a:extLst>
          </p:cNvPr>
          <p:cNvCxnSpPr>
            <a:cxnSpLocks/>
            <a:stCxn id="17" idx="2"/>
          </p:cNvCxnSpPr>
          <p:nvPr/>
        </p:nvCxnSpPr>
        <p:spPr>
          <a:xfrm flipH="1">
            <a:off x="5184396" y="1545693"/>
            <a:ext cx="1765077" cy="937448"/>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C30D925E-00F1-4095-A400-69A2ABD4836E}"/>
              </a:ext>
            </a:extLst>
          </p:cNvPr>
          <p:cNvCxnSpPr>
            <a:cxnSpLocks/>
            <a:endCxn id="13" idx="2"/>
          </p:cNvCxnSpPr>
          <p:nvPr/>
        </p:nvCxnSpPr>
        <p:spPr>
          <a:xfrm>
            <a:off x="5184396" y="2791366"/>
            <a:ext cx="2443890" cy="144999"/>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1774C404-CE4F-474D-8616-26652E6B2AC1}"/>
              </a:ext>
            </a:extLst>
          </p:cNvPr>
          <p:cNvCxnSpPr>
            <a:stCxn id="16" idx="6"/>
            <a:endCxn id="14" idx="2"/>
          </p:cNvCxnSpPr>
          <p:nvPr/>
        </p:nvCxnSpPr>
        <p:spPr>
          <a:xfrm flipV="1">
            <a:off x="7042429" y="4309835"/>
            <a:ext cx="312240" cy="382673"/>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8492B120-3AAB-4611-ADBA-48D81EEF5913}"/>
              </a:ext>
            </a:extLst>
          </p:cNvPr>
          <p:cNvSpPr txBox="1"/>
          <p:nvPr/>
        </p:nvSpPr>
        <p:spPr>
          <a:xfrm>
            <a:off x="7001611" y="4496641"/>
            <a:ext cx="577731" cy="230832"/>
          </a:xfrm>
          <a:prstGeom prst="rect">
            <a:avLst/>
          </a:prstGeom>
          <a:noFill/>
          <a:ln>
            <a:noFill/>
            <a:prstDash val="sysDot"/>
          </a:ln>
        </p:spPr>
        <p:txBody>
          <a:bodyPr wrap="square" rtlCol="0">
            <a:spAutoFit/>
          </a:bodyPr>
          <a:lstStyle/>
          <a:p>
            <a:r>
              <a:rPr lang="en-US" sz="900" b="1" dirty="0"/>
              <a:t>Extend</a:t>
            </a:r>
          </a:p>
        </p:txBody>
      </p:sp>
      <p:cxnSp>
        <p:nvCxnSpPr>
          <p:cNvPr id="51" name="Straight Connector 50">
            <a:extLst>
              <a:ext uri="{FF2B5EF4-FFF2-40B4-BE49-F238E27FC236}">
                <a16:creationId xmlns:a16="http://schemas.microsoft.com/office/drawing/2014/main" id="{87065251-77CC-4798-996F-42250A105FAB}"/>
              </a:ext>
            </a:extLst>
          </p:cNvPr>
          <p:cNvCxnSpPr>
            <a:cxnSpLocks/>
            <a:stCxn id="13" idx="6"/>
          </p:cNvCxnSpPr>
          <p:nvPr/>
        </p:nvCxnSpPr>
        <p:spPr>
          <a:xfrm>
            <a:off x="8682416" y="2936365"/>
            <a:ext cx="2615184" cy="1021125"/>
          </a:xfrm>
          <a:prstGeom prst="line">
            <a:avLst/>
          </a:prstGeom>
        </p:spPr>
        <p:style>
          <a:lnRef idx="1">
            <a:schemeClr val="dk1"/>
          </a:lnRef>
          <a:fillRef idx="0">
            <a:schemeClr val="dk1"/>
          </a:fillRef>
          <a:effectRef idx="0">
            <a:schemeClr val="dk1"/>
          </a:effectRef>
          <a:fontRef idx="minor">
            <a:schemeClr val="tx1"/>
          </a:fontRef>
        </p:style>
      </p:cxnSp>
      <p:sp>
        <p:nvSpPr>
          <p:cNvPr id="53" name="TextBox 52">
            <a:extLst>
              <a:ext uri="{FF2B5EF4-FFF2-40B4-BE49-F238E27FC236}">
                <a16:creationId xmlns:a16="http://schemas.microsoft.com/office/drawing/2014/main" id="{BD8B22C5-9A0F-4A28-B00E-C9B97C8AC2CB}"/>
              </a:ext>
            </a:extLst>
          </p:cNvPr>
          <p:cNvSpPr txBox="1"/>
          <p:nvPr/>
        </p:nvSpPr>
        <p:spPr>
          <a:xfrm>
            <a:off x="7308855" y="688600"/>
            <a:ext cx="2063106" cy="230832"/>
          </a:xfrm>
          <a:prstGeom prst="rect">
            <a:avLst/>
          </a:prstGeom>
          <a:noFill/>
        </p:spPr>
        <p:txBody>
          <a:bodyPr wrap="square" rtlCol="0">
            <a:spAutoFit/>
          </a:bodyPr>
          <a:lstStyle/>
          <a:p>
            <a:r>
              <a:rPr lang="en-US" sz="900" b="1" dirty="0"/>
              <a:t>Web Based Class Attendance System</a:t>
            </a:r>
          </a:p>
        </p:txBody>
      </p:sp>
      <p:pic>
        <p:nvPicPr>
          <p:cNvPr id="32" name="Content Placeholder 5" descr="Mankb">
            <a:extLst>
              <a:ext uri="{FF2B5EF4-FFF2-40B4-BE49-F238E27FC236}">
                <a16:creationId xmlns:a16="http://schemas.microsoft.com/office/drawing/2014/main" id="{EC7DB9F7-7669-484D-A01D-5024607825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977" y="3818029"/>
            <a:ext cx="914400" cy="914400"/>
          </a:xfrm>
          <a:prstGeom prst="rect">
            <a:avLst/>
          </a:prstGeom>
        </p:spPr>
      </p:pic>
      <p:pic>
        <p:nvPicPr>
          <p:cNvPr id="33" name="Content Placeholder 5" descr="Mankb">
            <a:extLst>
              <a:ext uri="{FF2B5EF4-FFF2-40B4-BE49-F238E27FC236}">
                <a16:creationId xmlns:a16="http://schemas.microsoft.com/office/drawing/2014/main" id="{41A4D0A4-FE43-4AA7-9848-3BC90D1ADB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05537" y="1327099"/>
            <a:ext cx="914400" cy="914400"/>
          </a:xfrm>
          <a:prstGeom prst="rect">
            <a:avLst/>
          </a:prstGeom>
        </p:spPr>
      </p:pic>
    </p:spTree>
    <p:extLst>
      <p:ext uri="{BB962C8B-B14F-4D97-AF65-F5344CB8AC3E}">
        <p14:creationId xmlns:p14="http://schemas.microsoft.com/office/powerpoint/2010/main" val="3904574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DF2F-A4E5-4BE4-9047-905E062758F2}"/>
              </a:ext>
            </a:extLst>
          </p:cNvPr>
          <p:cNvSpPr>
            <a:spLocks noGrp="1"/>
          </p:cNvSpPr>
          <p:nvPr>
            <p:ph type="title"/>
          </p:nvPr>
        </p:nvSpPr>
        <p:spPr>
          <a:xfrm>
            <a:off x="293615" y="2972004"/>
            <a:ext cx="1904914" cy="381495"/>
          </a:xfrm>
        </p:spPr>
        <p:txBody>
          <a:bodyPr>
            <a:noAutofit/>
          </a:bodyPr>
          <a:lstStyle/>
          <a:p>
            <a:r>
              <a:rPr lang="en-US" sz="1400" b="1" dirty="0"/>
              <a:t>Systems Analysis:</a:t>
            </a:r>
            <a:br>
              <a:rPr lang="en-US" sz="1400" dirty="0"/>
            </a:br>
            <a:r>
              <a:rPr lang="en-US" sz="1400" dirty="0"/>
              <a:t>Business Process Model</a:t>
            </a:r>
          </a:p>
        </p:txBody>
      </p:sp>
      <p:sp>
        <p:nvSpPr>
          <p:cNvPr id="4" name="Flowchart: Alternate Process 3">
            <a:extLst>
              <a:ext uri="{FF2B5EF4-FFF2-40B4-BE49-F238E27FC236}">
                <a16:creationId xmlns:a16="http://schemas.microsoft.com/office/drawing/2014/main" id="{0FDA46AC-D47C-4567-B014-EB522237B586}"/>
              </a:ext>
            </a:extLst>
          </p:cNvPr>
          <p:cNvSpPr/>
          <p:nvPr/>
        </p:nvSpPr>
        <p:spPr>
          <a:xfrm>
            <a:off x="3431446" y="1325987"/>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Login to system</a:t>
            </a:r>
          </a:p>
        </p:txBody>
      </p:sp>
      <p:sp>
        <p:nvSpPr>
          <p:cNvPr id="6" name="Flowchart: Alternate Process 5">
            <a:extLst>
              <a:ext uri="{FF2B5EF4-FFF2-40B4-BE49-F238E27FC236}">
                <a16:creationId xmlns:a16="http://schemas.microsoft.com/office/drawing/2014/main" id="{5D1BA4B8-D5A1-4EF9-B366-912AA2CD08F3}"/>
              </a:ext>
            </a:extLst>
          </p:cNvPr>
          <p:cNvSpPr/>
          <p:nvPr/>
        </p:nvSpPr>
        <p:spPr>
          <a:xfrm>
            <a:off x="3440540" y="2303845"/>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View Registered Classes</a:t>
            </a:r>
          </a:p>
        </p:txBody>
      </p:sp>
      <p:sp>
        <p:nvSpPr>
          <p:cNvPr id="7" name="Flowchart: Alternate Process 6">
            <a:extLst>
              <a:ext uri="{FF2B5EF4-FFF2-40B4-BE49-F238E27FC236}">
                <a16:creationId xmlns:a16="http://schemas.microsoft.com/office/drawing/2014/main" id="{DB7641E2-3CE8-4691-BA84-CE7449545825}"/>
              </a:ext>
            </a:extLst>
          </p:cNvPr>
          <p:cNvSpPr/>
          <p:nvPr/>
        </p:nvSpPr>
        <p:spPr>
          <a:xfrm>
            <a:off x="5408102" y="3668392"/>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View</a:t>
            </a:r>
            <a:r>
              <a:rPr lang="en-US" dirty="0">
                <a:solidFill>
                  <a:schemeClr val="tx1"/>
                </a:solidFill>
              </a:rPr>
              <a:t> </a:t>
            </a:r>
            <a:r>
              <a:rPr lang="en-US" sz="900" dirty="0">
                <a:solidFill>
                  <a:schemeClr val="tx1"/>
                </a:solidFill>
              </a:rPr>
              <a:t>Students Registered</a:t>
            </a:r>
          </a:p>
        </p:txBody>
      </p:sp>
      <p:sp>
        <p:nvSpPr>
          <p:cNvPr id="8" name="Flowchart: Alternate Process 7">
            <a:extLst>
              <a:ext uri="{FF2B5EF4-FFF2-40B4-BE49-F238E27FC236}">
                <a16:creationId xmlns:a16="http://schemas.microsoft.com/office/drawing/2014/main" id="{DD45DF7F-E3FC-41F8-911C-C5BD0842BD06}"/>
              </a:ext>
            </a:extLst>
          </p:cNvPr>
          <p:cNvSpPr/>
          <p:nvPr/>
        </p:nvSpPr>
        <p:spPr>
          <a:xfrm>
            <a:off x="8643994" y="4895062"/>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Search for attendance by student</a:t>
            </a:r>
          </a:p>
        </p:txBody>
      </p:sp>
      <p:sp>
        <p:nvSpPr>
          <p:cNvPr id="9" name="Flowchart: Alternate Process 8">
            <a:extLst>
              <a:ext uri="{FF2B5EF4-FFF2-40B4-BE49-F238E27FC236}">
                <a16:creationId xmlns:a16="http://schemas.microsoft.com/office/drawing/2014/main" id="{9BF43939-B6ED-4878-8EB0-12B7DCB66439}"/>
              </a:ext>
            </a:extLst>
          </p:cNvPr>
          <p:cNvSpPr/>
          <p:nvPr/>
        </p:nvSpPr>
        <p:spPr>
          <a:xfrm>
            <a:off x="5408102" y="2942438"/>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Take attendance</a:t>
            </a:r>
          </a:p>
        </p:txBody>
      </p:sp>
      <p:sp>
        <p:nvSpPr>
          <p:cNvPr id="10" name="Flowchart: Alternate Process 9">
            <a:extLst>
              <a:ext uri="{FF2B5EF4-FFF2-40B4-BE49-F238E27FC236}">
                <a16:creationId xmlns:a16="http://schemas.microsoft.com/office/drawing/2014/main" id="{A4970572-FBDA-4B84-A11D-321919E681CE}"/>
              </a:ext>
            </a:extLst>
          </p:cNvPr>
          <p:cNvSpPr/>
          <p:nvPr/>
        </p:nvSpPr>
        <p:spPr>
          <a:xfrm>
            <a:off x="7347895" y="4904848"/>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Search for attendance by class</a:t>
            </a:r>
          </a:p>
        </p:txBody>
      </p:sp>
      <p:sp>
        <p:nvSpPr>
          <p:cNvPr id="11" name="Flowchart: Alternate Process 10">
            <a:extLst>
              <a:ext uri="{FF2B5EF4-FFF2-40B4-BE49-F238E27FC236}">
                <a16:creationId xmlns:a16="http://schemas.microsoft.com/office/drawing/2014/main" id="{9642DF86-A0D2-4D17-ADD5-C80FE863BA62}"/>
              </a:ext>
            </a:extLst>
          </p:cNvPr>
          <p:cNvSpPr/>
          <p:nvPr/>
        </p:nvSpPr>
        <p:spPr>
          <a:xfrm>
            <a:off x="7944910" y="4028898"/>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Access attendance data</a:t>
            </a:r>
          </a:p>
        </p:txBody>
      </p:sp>
      <p:sp>
        <p:nvSpPr>
          <p:cNvPr id="12" name="Flowchart: Alternate Process 11">
            <a:extLst>
              <a:ext uri="{FF2B5EF4-FFF2-40B4-BE49-F238E27FC236}">
                <a16:creationId xmlns:a16="http://schemas.microsoft.com/office/drawing/2014/main" id="{7753CE3A-21DB-462A-9C35-75500B11B446}"/>
              </a:ext>
            </a:extLst>
          </p:cNvPr>
          <p:cNvSpPr/>
          <p:nvPr/>
        </p:nvSpPr>
        <p:spPr>
          <a:xfrm>
            <a:off x="10666582" y="2944740"/>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Record the attendance data</a:t>
            </a:r>
          </a:p>
        </p:txBody>
      </p:sp>
      <p:sp>
        <p:nvSpPr>
          <p:cNvPr id="13" name="Flowchart: Alternate Process 12">
            <a:extLst>
              <a:ext uri="{FF2B5EF4-FFF2-40B4-BE49-F238E27FC236}">
                <a16:creationId xmlns:a16="http://schemas.microsoft.com/office/drawing/2014/main" id="{FC436965-CEDE-4F9F-A971-CA41A126B09A}"/>
              </a:ext>
            </a:extLst>
          </p:cNvPr>
          <p:cNvSpPr/>
          <p:nvPr/>
        </p:nvSpPr>
        <p:spPr>
          <a:xfrm>
            <a:off x="8026528" y="5887350"/>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Generate Excel reports</a:t>
            </a:r>
          </a:p>
        </p:txBody>
      </p:sp>
      <p:sp>
        <p:nvSpPr>
          <p:cNvPr id="14" name="Flowchart: Alternate Process 13">
            <a:extLst>
              <a:ext uri="{FF2B5EF4-FFF2-40B4-BE49-F238E27FC236}">
                <a16:creationId xmlns:a16="http://schemas.microsoft.com/office/drawing/2014/main" id="{47966829-3BEF-45E0-BEB7-16D79CB782E8}"/>
              </a:ext>
            </a:extLst>
          </p:cNvPr>
          <p:cNvSpPr/>
          <p:nvPr/>
        </p:nvSpPr>
        <p:spPr>
          <a:xfrm>
            <a:off x="3434942" y="2942438"/>
            <a:ext cx="964734" cy="48656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Click into class</a:t>
            </a:r>
          </a:p>
        </p:txBody>
      </p:sp>
      <p:sp>
        <p:nvSpPr>
          <p:cNvPr id="20" name="Flowchart: Connector 19">
            <a:extLst>
              <a:ext uri="{FF2B5EF4-FFF2-40B4-BE49-F238E27FC236}">
                <a16:creationId xmlns:a16="http://schemas.microsoft.com/office/drawing/2014/main" id="{3FF9ECBB-4668-41DF-8562-D4B49A4391A2}"/>
              </a:ext>
            </a:extLst>
          </p:cNvPr>
          <p:cNvSpPr/>
          <p:nvPr/>
        </p:nvSpPr>
        <p:spPr>
          <a:xfrm>
            <a:off x="3780294" y="815139"/>
            <a:ext cx="285226" cy="276836"/>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D09BDFF1-7A5C-4C7A-8BA1-29E83EFD6390}"/>
              </a:ext>
            </a:extLst>
          </p:cNvPr>
          <p:cNvCxnSpPr>
            <a:stCxn id="20" idx="4"/>
            <a:endCxn id="4" idx="0"/>
          </p:cNvCxnSpPr>
          <p:nvPr/>
        </p:nvCxnSpPr>
        <p:spPr>
          <a:xfrm flipH="1">
            <a:off x="3913813" y="1091975"/>
            <a:ext cx="9094" cy="2340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1A4C2EF-EA3A-4E8E-9A6A-0E499736C492}"/>
              </a:ext>
            </a:extLst>
          </p:cNvPr>
          <p:cNvCxnSpPr>
            <a:cxnSpLocks/>
            <a:stCxn id="4" idx="2"/>
          </p:cNvCxnSpPr>
          <p:nvPr/>
        </p:nvCxnSpPr>
        <p:spPr>
          <a:xfrm>
            <a:off x="3913813" y="1812549"/>
            <a:ext cx="0" cy="1922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ECC495D-3CCA-45E2-8C82-0E0635F176AE}"/>
              </a:ext>
            </a:extLst>
          </p:cNvPr>
          <p:cNvCxnSpPr>
            <a:stCxn id="6" idx="2"/>
            <a:endCxn id="14" idx="0"/>
          </p:cNvCxnSpPr>
          <p:nvPr/>
        </p:nvCxnSpPr>
        <p:spPr>
          <a:xfrm flipH="1">
            <a:off x="3917309" y="2790407"/>
            <a:ext cx="5598" cy="1520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24863F7-8AC8-4656-8930-6019A066AFF5}"/>
              </a:ext>
            </a:extLst>
          </p:cNvPr>
          <p:cNvCxnSpPr>
            <a:cxnSpLocks/>
            <a:stCxn id="14" idx="3"/>
            <a:endCxn id="9" idx="1"/>
          </p:cNvCxnSpPr>
          <p:nvPr/>
        </p:nvCxnSpPr>
        <p:spPr>
          <a:xfrm>
            <a:off x="4399676" y="3185719"/>
            <a:ext cx="1008426" cy="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7E7AAAC-5F4C-49DD-838A-5D2204AEA063}"/>
              </a:ext>
            </a:extLst>
          </p:cNvPr>
          <p:cNvCxnSpPr>
            <a:cxnSpLocks/>
            <a:stCxn id="9" idx="2"/>
          </p:cNvCxnSpPr>
          <p:nvPr/>
        </p:nvCxnSpPr>
        <p:spPr>
          <a:xfrm>
            <a:off x="5890469" y="3429000"/>
            <a:ext cx="0" cy="23349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BD7C6F56-6553-4C41-B41D-6DAF07B184A0}"/>
              </a:ext>
            </a:extLst>
          </p:cNvPr>
          <p:cNvCxnSpPr>
            <a:cxnSpLocks/>
            <a:stCxn id="9" idx="3"/>
            <a:endCxn id="12" idx="1"/>
          </p:cNvCxnSpPr>
          <p:nvPr/>
        </p:nvCxnSpPr>
        <p:spPr>
          <a:xfrm>
            <a:off x="6372836" y="3185719"/>
            <a:ext cx="4293746" cy="2302"/>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9" name="Connector: Elbow 38">
            <a:extLst>
              <a:ext uri="{FF2B5EF4-FFF2-40B4-BE49-F238E27FC236}">
                <a16:creationId xmlns:a16="http://schemas.microsoft.com/office/drawing/2014/main" id="{35B89763-457D-4DB5-B786-E34D68444BF6}"/>
              </a:ext>
            </a:extLst>
          </p:cNvPr>
          <p:cNvCxnSpPr>
            <a:cxnSpLocks/>
            <a:stCxn id="7" idx="2"/>
            <a:endCxn id="11" idx="1"/>
          </p:cNvCxnSpPr>
          <p:nvPr/>
        </p:nvCxnSpPr>
        <p:spPr>
          <a:xfrm rot="16200000" flipH="1">
            <a:off x="6859077" y="3186345"/>
            <a:ext cx="117225" cy="205444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0" name="Connector: Elbow 39">
            <a:extLst>
              <a:ext uri="{FF2B5EF4-FFF2-40B4-BE49-F238E27FC236}">
                <a16:creationId xmlns:a16="http://schemas.microsoft.com/office/drawing/2014/main" id="{6B1C6463-A4BD-4E2D-BBAB-C407E72165CF}"/>
              </a:ext>
            </a:extLst>
          </p:cNvPr>
          <p:cNvCxnSpPr>
            <a:cxnSpLocks/>
            <a:stCxn id="12" idx="2"/>
            <a:endCxn id="7" idx="3"/>
          </p:cNvCxnSpPr>
          <p:nvPr/>
        </p:nvCxnSpPr>
        <p:spPr>
          <a:xfrm rot="5400000">
            <a:off x="8520708" y="1283431"/>
            <a:ext cx="480371" cy="477611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1" name="Flowchart: Alternate Process 50">
            <a:extLst>
              <a:ext uri="{FF2B5EF4-FFF2-40B4-BE49-F238E27FC236}">
                <a16:creationId xmlns:a16="http://schemas.microsoft.com/office/drawing/2014/main" id="{6B91A5A1-81C0-4F8F-8480-E45100F00DA9}"/>
              </a:ext>
            </a:extLst>
          </p:cNvPr>
          <p:cNvSpPr/>
          <p:nvPr/>
        </p:nvSpPr>
        <p:spPr>
          <a:xfrm>
            <a:off x="7992798" y="5569174"/>
            <a:ext cx="1032195" cy="130626"/>
          </a:xfrm>
          <a:prstGeom prst="flowChartAlternate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Alternate Process 51">
            <a:extLst>
              <a:ext uri="{FF2B5EF4-FFF2-40B4-BE49-F238E27FC236}">
                <a16:creationId xmlns:a16="http://schemas.microsoft.com/office/drawing/2014/main" id="{7D165E03-7A6B-4914-8041-173260775203}"/>
              </a:ext>
            </a:extLst>
          </p:cNvPr>
          <p:cNvSpPr/>
          <p:nvPr/>
        </p:nvSpPr>
        <p:spPr>
          <a:xfrm>
            <a:off x="7911179" y="4620426"/>
            <a:ext cx="1032195" cy="130626"/>
          </a:xfrm>
          <a:prstGeom prst="flowChartAlternate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1B64E239-E5D2-4EB8-8184-8A28288B2167}"/>
              </a:ext>
            </a:extLst>
          </p:cNvPr>
          <p:cNvCxnSpPr>
            <a:cxnSpLocks/>
            <a:stCxn id="11" idx="2"/>
            <a:endCxn id="52" idx="0"/>
          </p:cNvCxnSpPr>
          <p:nvPr/>
        </p:nvCxnSpPr>
        <p:spPr>
          <a:xfrm>
            <a:off x="8427277" y="4515460"/>
            <a:ext cx="0" cy="104966"/>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912AEC12-C67F-4968-9C21-AB87BC2E23C7}"/>
              </a:ext>
            </a:extLst>
          </p:cNvPr>
          <p:cNvCxnSpPr>
            <a:cxnSpLocks/>
            <a:stCxn id="51" idx="2"/>
            <a:endCxn id="13" idx="0"/>
          </p:cNvCxnSpPr>
          <p:nvPr/>
        </p:nvCxnSpPr>
        <p:spPr>
          <a:xfrm flipH="1">
            <a:off x="8508895" y="5699800"/>
            <a:ext cx="1" cy="18755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Connector: Elbow 59">
            <a:extLst>
              <a:ext uri="{FF2B5EF4-FFF2-40B4-BE49-F238E27FC236}">
                <a16:creationId xmlns:a16="http://schemas.microsoft.com/office/drawing/2014/main" id="{56397AB1-6917-4361-AB10-941846A3073F}"/>
              </a:ext>
            </a:extLst>
          </p:cNvPr>
          <p:cNvCxnSpPr>
            <a:cxnSpLocks/>
            <a:stCxn id="52" idx="2"/>
            <a:endCxn id="8" idx="0"/>
          </p:cNvCxnSpPr>
          <p:nvPr/>
        </p:nvCxnSpPr>
        <p:spPr>
          <a:xfrm rot="16200000" flipH="1">
            <a:off x="8704814" y="4473515"/>
            <a:ext cx="144010" cy="699084"/>
          </a:xfrm>
          <a:prstGeom prst="bentConnector3">
            <a:avLst>
              <a:gd name="adj1" fmla="val 38349"/>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3" name="Connector: Elbow 62">
            <a:extLst>
              <a:ext uri="{FF2B5EF4-FFF2-40B4-BE49-F238E27FC236}">
                <a16:creationId xmlns:a16="http://schemas.microsoft.com/office/drawing/2014/main" id="{A4D8D0E6-B8DB-4607-90AB-49ABBE87D51A}"/>
              </a:ext>
            </a:extLst>
          </p:cNvPr>
          <p:cNvCxnSpPr>
            <a:cxnSpLocks/>
            <a:stCxn id="52" idx="2"/>
            <a:endCxn id="10" idx="0"/>
          </p:cNvCxnSpPr>
          <p:nvPr/>
        </p:nvCxnSpPr>
        <p:spPr>
          <a:xfrm rot="5400000">
            <a:off x="8051872" y="4529443"/>
            <a:ext cx="153796" cy="597015"/>
          </a:xfrm>
          <a:prstGeom prst="bentConnector3">
            <a:avLst>
              <a:gd name="adj1" fmla="val 33635"/>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6" name="Connector: Elbow 65">
            <a:extLst>
              <a:ext uri="{FF2B5EF4-FFF2-40B4-BE49-F238E27FC236}">
                <a16:creationId xmlns:a16="http://schemas.microsoft.com/office/drawing/2014/main" id="{32BD51C1-BF39-4F74-AFFC-3C1D1B97C410}"/>
              </a:ext>
            </a:extLst>
          </p:cNvPr>
          <p:cNvCxnSpPr>
            <a:cxnSpLocks/>
            <a:stCxn id="8" idx="2"/>
            <a:endCxn id="51" idx="0"/>
          </p:cNvCxnSpPr>
          <p:nvPr/>
        </p:nvCxnSpPr>
        <p:spPr>
          <a:xfrm rot="5400000">
            <a:off x="8723854" y="5166667"/>
            <a:ext cx="187550" cy="617465"/>
          </a:xfrm>
          <a:prstGeom prst="bentConnector3">
            <a:avLst>
              <a:gd name="adj1" fmla="val 3658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9" name="Connector: Elbow 68">
            <a:extLst>
              <a:ext uri="{FF2B5EF4-FFF2-40B4-BE49-F238E27FC236}">
                <a16:creationId xmlns:a16="http://schemas.microsoft.com/office/drawing/2014/main" id="{2D194958-E47F-4321-82FC-BF3577CBED6D}"/>
              </a:ext>
            </a:extLst>
          </p:cNvPr>
          <p:cNvCxnSpPr>
            <a:cxnSpLocks/>
            <a:stCxn id="10" idx="2"/>
            <a:endCxn id="51" idx="0"/>
          </p:cNvCxnSpPr>
          <p:nvPr/>
        </p:nvCxnSpPr>
        <p:spPr>
          <a:xfrm rot="16200000" flipH="1">
            <a:off x="8080697" y="5140975"/>
            <a:ext cx="177764" cy="678634"/>
          </a:xfrm>
          <a:prstGeom prst="bentConnector3">
            <a:avLst>
              <a:gd name="adj1" fmla="val 3584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2" name="Flowchart: Connector 71">
            <a:extLst>
              <a:ext uri="{FF2B5EF4-FFF2-40B4-BE49-F238E27FC236}">
                <a16:creationId xmlns:a16="http://schemas.microsoft.com/office/drawing/2014/main" id="{00294A2B-B4CE-40F2-91A6-2DDC6D2EFDC3}"/>
              </a:ext>
            </a:extLst>
          </p:cNvPr>
          <p:cNvSpPr/>
          <p:nvPr/>
        </p:nvSpPr>
        <p:spPr>
          <a:xfrm>
            <a:off x="8357229" y="6579736"/>
            <a:ext cx="307597" cy="255864"/>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lowchart: Connector 72">
            <a:extLst>
              <a:ext uri="{FF2B5EF4-FFF2-40B4-BE49-F238E27FC236}">
                <a16:creationId xmlns:a16="http://schemas.microsoft.com/office/drawing/2014/main" id="{52432250-4582-46A1-917F-3E6F7AAD4A07}"/>
              </a:ext>
            </a:extLst>
          </p:cNvPr>
          <p:cNvSpPr/>
          <p:nvPr/>
        </p:nvSpPr>
        <p:spPr>
          <a:xfrm>
            <a:off x="8410324" y="6622203"/>
            <a:ext cx="197141" cy="162689"/>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Arrow Connector 74">
            <a:extLst>
              <a:ext uri="{FF2B5EF4-FFF2-40B4-BE49-F238E27FC236}">
                <a16:creationId xmlns:a16="http://schemas.microsoft.com/office/drawing/2014/main" id="{034EEDCD-8CA3-4757-9DF7-CCE460B66192}"/>
              </a:ext>
            </a:extLst>
          </p:cNvPr>
          <p:cNvCxnSpPr>
            <a:cxnSpLocks/>
            <a:stCxn id="13" idx="2"/>
            <a:endCxn id="72" idx="0"/>
          </p:cNvCxnSpPr>
          <p:nvPr/>
        </p:nvCxnSpPr>
        <p:spPr>
          <a:xfrm>
            <a:off x="8508895" y="6373912"/>
            <a:ext cx="2133" cy="2058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7B63DA1F-A499-43CD-951B-C6DB94EF52A5}"/>
              </a:ext>
            </a:extLst>
          </p:cNvPr>
          <p:cNvSpPr/>
          <p:nvPr/>
        </p:nvSpPr>
        <p:spPr>
          <a:xfrm>
            <a:off x="3010724" y="46588"/>
            <a:ext cx="9019090" cy="681141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9" name="Straight Connector 78">
            <a:extLst>
              <a:ext uri="{FF2B5EF4-FFF2-40B4-BE49-F238E27FC236}">
                <a16:creationId xmlns:a16="http://schemas.microsoft.com/office/drawing/2014/main" id="{1E45DADB-8841-4C86-BFEB-768CCC61C05A}"/>
              </a:ext>
            </a:extLst>
          </p:cNvPr>
          <p:cNvCxnSpPr>
            <a:cxnSpLocks/>
          </p:cNvCxnSpPr>
          <p:nvPr/>
        </p:nvCxnSpPr>
        <p:spPr>
          <a:xfrm>
            <a:off x="4810953" y="671119"/>
            <a:ext cx="37709" cy="6186881"/>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94316C7C-7EF7-46A7-94AA-2E176C833F79}"/>
              </a:ext>
            </a:extLst>
          </p:cNvPr>
          <p:cNvCxnSpPr>
            <a:cxnSpLocks/>
          </p:cNvCxnSpPr>
          <p:nvPr/>
        </p:nvCxnSpPr>
        <p:spPr>
          <a:xfrm>
            <a:off x="6956154" y="671119"/>
            <a:ext cx="41664" cy="6212048"/>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a:extLst>
              <a:ext uri="{FF2B5EF4-FFF2-40B4-BE49-F238E27FC236}">
                <a16:creationId xmlns:a16="http://schemas.microsoft.com/office/drawing/2014/main" id="{6162F8AC-51DF-4120-8A6C-91DDB18D0752}"/>
              </a:ext>
            </a:extLst>
          </p:cNvPr>
          <p:cNvCxnSpPr>
            <a:cxnSpLocks/>
          </p:cNvCxnSpPr>
          <p:nvPr/>
        </p:nvCxnSpPr>
        <p:spPr>
          <a:xfrm>
            <a:off x="10053573" y="671119"/>
            <a:ext cx="56297" cy="6186881"/>
          </a:xfrm>
          <a:prstGeom prst="line">
            <a:avLst/>
          </a:prstGeom>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49E13195-8999-4DF0-AFA5-AE7B09604FE8}"/>
              </a:ext>
            </a:extLst>
          </p:cNvPr>
          <p:cNvCxnSpPr>
            <a:cxnSpLocks/>
          </p:cNvCxnSpPr>
          <p:nvPr/>
        </p:nvCxnSpPr>
        <p:spPr>
          <a:xfrm>
            <a:off x="3011648" y="671119"/>
            <a:ext cx="9018165" cy="0"/>
          </a:xfrm>
          <a:prstGeom prst="line">
            <a:avLst/>
          </a:prstGeom>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56F74B64-09A5-4AF9-AF2E-E2988531A98D}"/>
              </a:ext>
            </a:extLst>
          </p:cNvPr>
          <p:cNvSpPr txBox="1"/>
          <p:nvPr/>
        </p:nvSpPr>
        <p:spPr>
          <a:xfrm>
            <a:off x="5348777" y="415120"/>
            <a:ext cx="997389" cy="230832"/>
          </a:xfrm>
          <a:prstGeom prst="rect">
            <a:avLst/>
          </a:prstGeom>
          <a:noFill/>
        </p:spPr>
        <p:txBody>
          <a:bodyPr wrap="none" rtlCol="0">
            <a:spAutoFit/>
          </a:bodyPr>
          <a:lstStyle/>
          <a:p>
            <a:r>
              <a:rPr lang="en-US" sz="900" dirty="0"/>
              <a:t>Course Instructor</a:t>
            </a:r>
          </a:p>
        </p:txBody>
      </p:sp>
      <p:sp>
        <p:nvSpPr>
          <p:cNvPr id="96" name="Flowchart: Decision 95">
            <a:extLst>
              <a:ext uri="{FF2B5EF4-FFF2-40B4-BE49-F238E27FC236}">
                <a16:creationId xmlns:a16="http://schemas.microsoft.com/office/drawing/2014/main" id="{9D3196E0-2F0A-495F-8992-CC74D792F5E8}"/>
              </a:ext>
            </a:extLst>
          </p:cNvPr>
          <p:cNvSpPr/>
          <p:nvPr/>
        </p:nvSpPr>
        <p:spPr>
          <a:xfrm>
            <a:off x="3805378" y="1980854"/>
            <a:ext cx="240648" cy="230832"/>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Arrow Connector 97">
            <a:extLst>
              <a:ext uri="{FF2B5EF4-FFF2-40B4-BE49-F238E27FC236}">
                <a16:creationId xmlns:a16="http://schemas.microsoft.com/office/drawing/2014/main" id="{1C8B4258-7AD9-4C29-B992-BAD04C9549CF}"/>
              </a:ext>
            </a:extLst>
          </p:cNvPr>
          <p:cNvCxnSpPr>
            <a:cxnSpLocks/>
            <a:stCxn id="96" idx="2"/>
            <a:endCxn id="6" idx="0"/>
          </p:cNvCxnSpPr>
          <p:nvPr/>
        </p:nvCxnSpPr>
        <p:spPr>
          <a:xfrm flipH="1">
            <a:off x="3922907" y="2211686"/>
            <a:ext cx="2795" cy="921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8DEEA5FA-700C-4D06-82EE-7835186B40F4}"/>
              </a:ext>
            </a:extLst>
          </p:cNvPr>
          <p:cNvSpPr txBox="1"/>
          <p:nvPr/>
        </p:nvSpPr>
        <p:spPr>
          <a:xfrm>
            <a:off x="3961359" y="2048574"/>
            <a:ext cx="940354" cy="230832"/>
          </a:xfrm>
          <a:prstGeom prst="rect">
            <a:avLst/>
          </a:prstGeom>
          <a:noFill/>
          <a:ln>
            <a:noFill/>
          </a:ln>
        </p:spPr>
        <p:txBody>
          <a:bodyPr wrap="square" rtlCol="0">
            <a:spAutoFit/>
          </a:bodyPr>
          <a:lstStyle/>
          <a:p>
            <a:r>
              <a:rPr lang="en-US" sz="900" dirty="0"/>
              <a:t>Successful Login</a:t>
            </a:r>
          </a:p>
        </p:txBody>
      </p:sp>
      <p:cxnSp>
        <p:nvCxnSpPr>
          <p:cNvPr id="102" name="Connector: Elbow 101">
            <a:extLst>
              <a:ext uri="{FF2B5EF4-FFF2-40B4-BE49-F238E27FC236}">
                <a16:creationId xmlns:a16="http://schemas.microsoft.com/office/drawing/2014/main" id="{5A115328-0DF7-4FFC-ACB7-786AD6771A9F}"/>
              </a:ext>
            </a:extLst>
          </p:cNvPr>
          <p:cNvCxnSpPr>
            <a:cxnSpLocks/>
            <a:stCxn id="6" idx="1"/>
            <a:endCxn id="4" idx="1"/>
          </p:cNvCxnSpPr>
          <p:nvPr/>
        </p:nvCxnSpPr>
        <p:spPr>
          <a:xfrm rot="10800000">
            <a:off x="3431446" y="1569268"/>
            <a:ext cx="9094" cy="977858"/>
          </a:xfrm>
          <a:prstGeom prst="bentConnector3">
            <a:avLst>
              <a:gd name="adj1" fmla="val 2613745"/>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5" name="TextBox 104">
            <a:extLst>
              <a:ext uri="{FF2B5EF4-FFF2-40B4-BE49-F238E27FC236}">
                <a16:creationId xmlns:a16="http://schemas.microsoft.com/office/drawing/2014/main" id="{C43C20BC-8137-4075-A229-AA4B42A6A82A}"/>
              </a:ext>
            </a:extLst>
          </p:cNvPr>
          <p:cNvSpPr txBox="1"/>
          <p:nvPr/>
        </p:nvSpPr>
        <p:spPr>
          <a:xfrm>
            <a:off x="2922274" y="1908533"/>
            <a:ext cx="914400" cy="230832"/>
          </a:xfrm>
          <a:prstGeom prst="rect">
            <a:avLst/>
          </a:prstGeom>
          <a:noFill/>
        </p:spPr>
        <p:txBody>
          <a:bodyPr wrap="square" rtlCol="0">
            <a:spAutoFit/>
          </a:bodyPr>
          <a:lstStyle/>
          <a:p>
            <a:r>
              <a:rPr lang="en-US" sz="900" dirty="0"/>
              <a:t>Fail to Login</a:t>
            </a:r>
          </a:p>
        </p:txBody>
      </p:sp>
      <p:sp>
        <p:nvSpPr>
          <p:cNvPr id="107" name="TextBox 106">
            <a:extLst>
              <a:ext uri="{FF2B5EF4-FFF2-40B4-BE49-F238E27FC236}">
                <a16:creationId xmlns:a16="http://schemas.microsoft.com/office/drawing/2014/main" id="{BEC1DB69-171E-4667-9213-FF6345C5F715}"/>
              </a:ext>
            </a:extLst>
          </p:cNvPr>
          <p:cNvSpPr txBox="1"/>
          <p:nvPr/>
        </p:nvSpPr>
        <p:spPr>
          <a:xfrm>
            <a:off x="3622182" y="444283"/>
            <a:ext cx="914400" cy="230832"/>
          </a:xfrm>
          <a:prstGeom prst="rect">
            <a:avLst/>
          </a:prstGeom>
          <a:noFill/>
        </p:spPr>
        <p:txBody>
          <a:bodyPr wrap="square" rtlCol="0">
            <a:spAutoFit/>
          </a:bodyPr>
          <a:lstStyle/>
          <a:p>
            <a:r>
              <a:rPr lang="en-US" sz="900" dirty="0"/>
              <a:t>Student</a:t>
            </a:r>
          </a:p>
        </p:txBody>
      </p:sp>
      <p:sp>
        <p:nvSpPr>
          <p:cNvPr id="108" name="TextBox 107">
            <a:extLst>
              <a:ext uri="{FF2B5EF4-FFF2-40B4-BE49-F238E27FC236}">
                <a16:creationId xmlns:a16="http://schemas.microsoft.com/office/drawing/2014/main" id="{94B4FB9C-D74A-4DED-B5F1-96323715EB96}"/>
              </a:ext>
            </a:extLst>
          </p:cNvPr>
          <p:cNvSpPr txBox="1"/>
          <p:nvPr/>
        </p:nvSpPr>
        <p:spPr>
          <a:xfrm>
            <a:off x="8027476" y="415120"/>
            <a:ext cx="914400" cy="230832"/>
          </a:xfrm>
          <a:prstGeom prst="rect">
            <a:avLst/>
          </a:prstGeom>
          <a:noFill/>
        </p:spPr>
        <p:txBody>
          <a:bodyPr wrap="square" rtlCol="0">
            <a:spAutoFit/>
          </a:bodyPr>
          <a:lstStyle/>
          <a:p>
            <a:r>
              <a:rPr lang="en-US" sz="900" dirty="0"/>
              <a:t>System Admin</a:t>
            </a:r>
          </a:p>
        </p:txBody>
      </p:sp>
      <p:sp>
        <p:nvSpPr>
          <p:cNvPr id="109" name="TextBox 108">
            <a:extLst>
              <a:ext uri="{FF2B5EF4-FFF2-40B4-BE49-F238E27FC236}">
                <a16:creationId xmlns:a16="http://schemas.microsoft.com/office/drawing/2014/main" id="{B5C1CF89-585E-40E7-A11E-7B90E46EA61A}"/>
              </a:ext>
            </a:extLst>
          </p:cNvPr>
          <p:cNvSpPr txBox="1"/>
          <p:nvPr/>
        </p:nvSpPr>
        <p:spPr>
          <a:xfrm>
            <a:off x="10497498" y="427704"/>
            <a:ext cx="1214757" cy="230832"/>
          </a:xfrm>
          <a:prstGeom prst="rect">
            <a:avLst/>
          </a:prstGeom>
          <a:noFill/>
        </p:spPr>
        <p:txBody>
          <a:bodyPr wrap="square" rtlCol="0">
            <a:spAutoFit/>
          </a:bodyPr>
          <a:lstStyle/>
          <a:p>
            <a:r>
              <a:rPr lang="en-US" sz="900" dirty="0"/>
              <a:t>University database</a:t>
            </a:r>
          </a:p>
        </p:txBody>
      </p:sp>
      <p:cxnSp>
        <p:nvCxnSpPr>
          <p:cNvPr id="110" name="Straight Connector 109">
            <a:extLst>
              <a:ext uri="{FF2B5EF4-FFF2-40B4-BE49-F238E27FC236}">
                <a16:creationId xmlns:a16="http://schemas.microsoft.com/office/drawing/2014/main" id="{DA41F76A-FB39-4A93-BC0D-098EBA5E142B}"/>
              </a:ext>
            </a:extLst>
          </p:cNvPr>
          <p:cNvCxnSpPr>
            <a:cxnSpLocks/>
          </p:cNvCxnSpPr>
          <p:nvPr/>
        </p:nvCxnSpPr>
        <p:spPr>
          <a:xfrm>
            <a:off x="3010724" y="411231"/>
            <a:ext cx="9018165" cy="0"/>
          </a:xfrm>
          <a:prstGeom prst="line">
            <a:avLst/>
          </a:prstGeom>
        </p:spPr>
        <p:style>
          <a:lnRef idx="1">
            <a:schemeClr val="dk1"/>
          </a:lnRef>
          <a:fillRef idx="0">
            <a:schemeClr val="dk1"/>
          </a:fillRef>
          <a:effectRef idx="0">
            <a:schemeClr val="dk1"/>
          </a:effectRef>
          <a:fontRef idx="minor">
            <a:schemeClr val="tx1"/>
          </a:fontRef>
        </p:style>
      </p:cxnSp>
      <p:sp>
        <p:nvSpPr>
          <p:cNvPr id="112" name="TextBox 111">
            <a:extLst>
              <a:ext uri="{FF2B5EF4-FFF2-40B4-BE49-F238E27FC236}">
                <a16:creationId xmlns:a16="http://schemas.microsoft.com/office/drawing/2014/main" id="{263F12B7-5CE4-44FD-A5D7-2DE14AABA826}"/>
              </a:ext>
            </a:extLst>
          </p:cNvPr>
          <p:cNvSpPr txBox="1"/>
          <p:nvPr/>
        </p:nvSpPr>
        <p:spPr>
          <a:xfrm>
            <a:off x="6496227" y="134297"/>
            <a:ext cx="1954281" cy="230832"/>
          </a:xfrm>
          <a:prstGeom prst="rect">
            <a:avLst/>
          </a:prstGeom>
          <a:noFill/>
        </p:spPr>
        <p:txBody>
          <a:bodyPr wrap="square" rtlCol="0">
            <a:spAutoFit/>
          </a:bodyPr>
          <a:lstStyle/>
          <a:p>
            <a:r>
              <a:rPr lang="en-US" sz="900" dirty="0"/>
              <a:t>Web Based Class Attendance System</a:t>
            </a:r>
          </a:p>
        </p:txBody>
      </p:sp>
    </p:spTree>
    <p:extLst>
      <p:ext uri="{BB962C8B-B14F-4D97-AF65-F5344CB8AC3E}">
        <p14:creationId xmlns:p14="http://schemas.microsoft.com/office/powerpoint/2010/main" val="456045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A3125-043D-4EB3-A68B-AA03BB575BA4}"/>
              </a:ext>
            </a:extLst>
          </p:cNvPr>
          <p:cNvSpPr>
            <a:spLocks noGrp="1"/>
          </p:cNvSpPr>
          <p:nvPr>
            <p:ph type="title"/>
          </p:nvPr>
        </p:nvSpPr>
        <p:spPr>
          <a:xfrm>
            <a:off x="790685" y="2974505"/>
            <a:ext cx="2239861" cy="446315"/>
          </a:xfrm>
        </p:spPr>
        <p:txBody>
          <a:bodyPr>
            <a:noAutofit/>
          </a:bodyPr>
          <a:lstStyle/>
          <a:p>
            <a:r>
              <a:rPr lang="en-US" sz="1400" b="1" dirty="0"/>
              <a:t>Systems Analysis:</a:t>
            </a:r>
            <a:br>
              <a:rPr lang="en-US" sz="1400" dirty="0"/>
            </a:br>
            <a:r>
              <a:rPr lang="en-US" sz="1400" dirty="0"/>
              <a:t>Conceptual Model</a:t>
            </a:r>
          </a:p>
        </p:txBody>
      </p:sp>
      <p:sp>
        <p:nvSpPr>
          <p:cNvPr id="5" name="Flowchart: Alternate Process 4">
            <a:extLst>
              <a:ext uri="{FF2B5EF4-FFF2-40B4-BE49-F238E27FC236}">
                <a16:creationId xmlns:a16="http://schemas.microsoft.com/office/drawing/2014/main" id="{A2B8A5BE-A0A5-4A88-B647-4446D2D1738E}"/>
              </a:ext>
            </a:extLst>
          </p:cNvPr>
          <p:cNvSpPr/>
          <p:nvPr/>
        </p:nvSpPr>
        <p:spPr>
          <a:xfrm>
            <a:off x="10209400" y="4565639"/>
            <a:ext cx="1090569" cy="668921"/>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Database</a:t>
            </a:r>
          </a:p>
        </p:txBody>
      </p:sp>
      <p:sp>
        <p:nvSpPr>
          <p:cNvPr id="7" name="Flowchart: Alternate Process 6">
            <a:extLst>
              <a:ext uri="{FF2B5EF4-FFF2-40B4-BE49-F238E27FC236}">
                <a16:creationId xmlns:a16="http://schemas.microsoft.com/office/drawing/2014/main" id="{0AC83CCC-B1FD-4437-94A0-C2F661C1366D}"/>
              </a:ext>
            </a:extLst>
          </p:cNvPr>
          <p:cNvSpPr/>
          <p:nvPr/>
        </p:nvSpPr>
        <p:spPr>
          <a:xfrm>
            <a:off x="4395134" y="3398978"/>
            <a:ext cx="1217799" cy="882163"/>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Attendance</a:t>
            </a:r>
          </a:p>
        </p:txBody>
      </p:sp>
      <p:sp>
        <p:nvSpPr>
          <p:cNvPr id="8" name="Flowchart: Alternate Process 7">
            <a:extLst>
              <a:ext uri="{FF2B5EF4-FFF2-40B4-BE49-F238E27FC236}">
                <a16:creationId xmlns:a16="http://schemas.microsoft.com/office/drawing/2014/main" id="{322E9D90-55D3-4579-88B0-7B55DCCC7D4B}"/>
              </a:ext>
            </a:extLst>
          </p:cNvPr>
          <p:cNvSpPr/>
          <p:nvPr/>
        </p:nvSpPr>
        <p:spPr>
          <a:xfrm>
            <a:off x="7246689" y="6106064"/>
            <a:ext cx="1090569" cy="668921"/>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Excel Report</a:t>
            </a:r>
          </a:p>
        </p:txBody>
      </p:sp>
      <p:sp>
        <p:nvSpPr>
          <p:cNvPr id="9" name="Flowchart: Alternate Process 8">
            <a:extLst>
              <a:ext uri="{FF2B5EF4-FFF2-40B4-BE49-F238E27FC236}">
                <a16:creationId xmlns:a16="http://schemas.microsoft.com/office/drawing/2014/main" id="{2962A780-A2CE-4149-84E2-FBCB7267B24D}"/>
              </a:ext>
            </a:extLst>
          </p:cNvPr>
          <p:cNvSpPr/>
          <p:nvPr/>
        </p:nvSpPr>
        <p:spPr>
          <a:xfrm>
            <a:off x="7025082" y="1620409"/>
            <a:ext cx="1213607" cy="795076"/>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Classes</a:t>
            </a:r>
          </a:p>
        </p:txBody>
      </p:sp>
      <p:sp>
        <p:nvSpPr>
          <p:cNvPr id="6" name="Flowchart: Alternate Process 5">
            <a:extLst>
              <a:ext uri="{FF2B5EF4-FFF2-40B4-BE49-F238E27FC236}">
                <a16:creationId xmlns:a16="http://schemas.microsoft.com/office/drawing/2014/main" id="{5252CB93-89BA-4918-9273-BE56C785CE4E}"/>
              </a:ext>
            </a:extLst>
          </p:cNvPr>
          <p:cNvSpPr/>
          <p:nvPr/>
        </p:nvSpPr>
        <p:spPr>
          <a:xfrm>
            <a:off x="6641284" y="3997709"/>
            <a:ext cx="2301380" cy="1804782"/>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Alternate Process 10">
            <a:extLst>
              <a:ext uri="{FF2B5EF4-FFF2-40B4-BE49-F238E27FC236}">
                <a16:creationId xmlns:a16="http://schemas.microsoft.com/office/drawing/2014/main" id="{9CF9E1AD-0F3A-4C9C-BABD-5AB6A50E14FE}"/>
              </a:ext>
            </a:extLst>
          </p:cNvPr>
          <p:cNvSpPr/>
          <p:nvPr/>
        </p:nvSpPr>
        <p:spPr>
          <a:xfrm>
            <a:off x="3927446" y="1245313"/>
            <a:ext cx="2153173" cy="1564098"/>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Alternate Process 11">
            <a:extLst>
              <a:ext uri="{FF2B5EF4-FFF2-40B4-BE49-F238E27FC236}">
                <a16:creationId xmlns:a16="http://schemas.microsoft.com/office/drawing/2014/main" id="{A2A75439-9B47-415A-A5DC-AEB5172B1C83}"/>
              </a:ext>
            </a:extLst>
          </p:cNvPr>
          <p:cNvSpPr/>
          <p:nvPr/>
        </p:nvSpPr>
        <p:spPr>
          <a:xfrm>
            <a:off x="9278223" y="1225171"/>
            <a:ext cx="2058099" cy="1564097"/>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933F185-DC02-48C9-A2E3-C7F428F46BBC}"/>
              </a:ext>
            </a:extLst>
          </p:cNvPr>
          <p:cNvCxnSpPr>
            <a:cxnSpLocks/>
            <a:stCxn id="11" idx="3"/>
            <a:endCxn id="9" idx="1"/>
          </p:cNvCxnSpPr>
          <p:nvPr/>
        </p:nvCxnSpPr>
        <p:spPr>
          <a:xfrm flipV="1">
            <a:off x="6080619" y="2017947"/>
            <a:ext cx="944463" cy="941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448800-E41B-4253-A400-E3F369BAA040}"/>
              </a:ext>
            </a:extLst>
          </p:cNvPr>
          <p:cNvCxnSpPr>
            <a:cxnSpLocks/>
            <a:stCxn id="9" idx="3"/>
            <a:endCxn id="12" idx="1"/>
          </p:cNvCxnSpPr>
          <p:nvPr/>
        </p:nvCxnSpPr>
        <p:spPr>
          <a:xfrm flipV="1">
            <a:off x="8238689" y="2007220"/>
            <a:ext cx="1039534" cy="1072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0FA07E9-48B5-49F7-AEDB-195E5CCE14F8}"/>
              </a:ext>
            </a:extLst>
          </p:cNvPr>
          <p:cNvCxnSpPr>
            <a:cxnSpLocks/>
            <a:stCxn id="11" idx="2"/>
            <a:endCxn id="7" idx="0"/>
          </p:cNvCxnSpPr>
          <p:nvPr/>
        </p:nvCxnSpPr>
        <p:spPr>
          <a:xfrm>
            <a:off x="5004033" y="2809411"/>
            <a:ext cx="1" cy="5895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9DF7B1B-94F5-452C-A643-6B9CDF32D83C}"/>
              </a:ext>
            </a:extLst>
          </p:cNvPr>
          <p:cNvCxnSpPr>
            <a:cxnSpLocks/>
            <a:stCxn id="6" idx="3"/>
            <a:endCxn id="5" idx="1"/>
          </p:cNvCxnSpPr>
          <p:nvPr/>
        </p:nvCxnSpPr>
        <p:spPr>
          <a:xfrm>
            <a:off x="8942664" y="4900100"/>
            <a:ext cx="126673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A8F6CC-865E-4567-9690-2DA5DCB9DB8A}"/>
              </a:ext>
            </a:extLst>
          </p:cNvPr>
          <p:cNvCxnSpPr>
            <a:cxnSpLocks/>
            <a:stCxn id="6" idx="2"/>
            <a:endCxn id="8" idx="0"/>
          </p:cNvCxnSpPr>
          <p:nvPr/>
        </p:nvCxnSpPr>
        <p:spPr>
          <a:xfrm>
            <a:off x="7791974" y="5802491"/>
            <a:ext cx="0" cy="3035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1" name="Connector: Elbow 1030">
            <a:extLst>
              <a:ext uri="{FF2B5EF4-FFF2-40B4-BE49-F238E27FC236}">
                <a16:creationId xmlns:a16="http://schemas.microsoft.com/office/drawing/2014/main" id="{74C38E4E-2339-4A00-900C-82765B8D4EAB}"/>
              </a:ext>
            </a:extLst>
          </p:cNvPr>
          <p:cNvCxnSpPr>
            <a:cxnSpLocks/>
            <a:stCxn id="12" idx="2"/>
            <a:endCxn id="7" idx="3"/>
          </p:cNvCxnSpPr>
          <p:nvPr/>
        </p:nvCxnSpPr>
        <p:spPr>
          <a:xfrm rot="5400000">
            <a:off x="7434707" y="967494"/>
            <a:ext cx="1050792" cy="469434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DBBBA89F-91C6-4ECE-9212-E0C525BEF941}"/>
              </a:ext>
            </a:extLst>
          </p:cNvPr>
          <p:cNvCxnSpPr>
            <a:cxnSpLocks/>
            <a:stCxn id="6" idx="1"/>
            <a:endCxn id="7" idx="2"/>
          </p:cNvCxnSpPr>
          <p:nvPr/>
        </p:nvCxnSpPr>
        <p:spPr>
          <a:xfrm rot="10800000">
            <a:off x="5004034" y="4281142"/>
            <a:ext cx="1637250" cy="61895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7" name="Connector: Elbow 1036">
            <a:extLst>
              <a:ext uri="{FF2B5EF4-FFF2-40B4-BE49-F238E27FC236}">
                <a16:creationId xmlns:a16="http://schemas.microsoft.com/office/drawing/2014/main" id="{37AA83E4-C0AD-4167-820E-23F1B1048295}"/>
              </a:ext>
            </a:extLst>
          </p:cNvPr>
          <p:cNvCxnSpPr>
            <a:cxnSpLocks/>
            <a:stCxn id="11" idx="0"/>
            <a:endCxn id="12" idx="0"/>
          </p:cNvCxnSpPr>
          <p:nvPr/>
        </p:nvCxnSpPr>
        <p:spPr>
          <a:xfrm rot="5400000" flipH="1" flipV="1">
            <a:off x="7645582" y="-1416378"/>
            <a:ext cx="20142" cy="5303240"/>
          </a:xfrm>
          <a:prstGeom prst="bentConnector3">
            <a:avLst>
              <a:gd name="adj1" fmla="val 2317823"/>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44" name="Straight Connector 1043">
            <a:extLst>
              <a:ext uri="{FF2B5EF4-FFF2-40B4-BE49-F238E27FC236}">
                <a16:creationId xmlns:a16="http://schemas.microsoft.com/office/drawing/2014/main" id="{130DA01B-8EBE-484E-8CDF-0D98B62C2984}"/>
              </a:ext>
            </a:extLst>
          </p:cNvPr>
          <p:cNvCxnSpPr>
            <a:cxnSpLocks/>
          </p:cNvCxnSpPr>
          <p:nvPr/>
        </p:nvCxnSpPr>
        <p:spPr>
          <a:xfrm>
            <a:off x="3927446" y="1535185"/>
            <a:ext cx="2168554" cy="0"/>
          </a:xfrm>
          <a:prstGeom prst="line">
            <a:avLst/>
          </a:prstGeom>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157D657F-D1BD-4E70-82E2-66900BEE6E30}"/>
              </a:ext>
            </a:extLst>
          </p:cNvPr>
          <p:cNvCxnSpPr>
            <a:cxnSpLocks/>
          </p:cNvCxnSpPr>
          <p:nvPr/>
        </p:nvCxnSpPr>
        <p:spPr>
          <a:xfrm>
            <a:off x="3927446" y="1935739"/>
            <a:ext cx="2153173" cy="0"/>
          </a:xfrm>
          <a:prstGeom prst="line">
            <a:avLst/>
          </a:prstGeom>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59D46989-45BA-47BF-915C-331A0B39AD89}"/>
              </a:ext>
            </a:extLst>
          </p:cNvPr>
          <p:cNvCxnSpPr>
            <a:cxnSpLocks/>
          </p:cNvCxnSpPr>
          <p:nvPr/>
        </p:nvCxnSpPr>
        <p:spPr>
          <a:xfrm>
            <a:off x="9278223" y="1716042"/>
            <a:ext cx="20217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358ACE7-18A0-47A7-8473-8685FCC0BB27}"/>
              </a:ext>
            </a:extLst>
          </p:cNvPr>
          <p:cNvCxnSpPr>
            <a:cxnSpLocks/>
          </p:cNvCxnSpPr>
          <p:nvPr/>
        </p:nvCxnSpPr>
        <p:spPr>
          <a:xfrm>
            <a:off x="9278223" y="2056081"/>
            <a:ext cx="20217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C4C483C-5F2F-48A4-ACE4-3AC468D7482D}"/>
              </a:ext>
            </a:extLst>
          </p:cNvPr>
          <p:cNvCxnSpPr>
            <a:cxnSpLocks/>
          </p:cNvCxnSpPr>
          <p:nvPr/>
        </p:nvCxnSpPr>
        <p:spPr>
          <a:xfrm>
            <a:off x="6641284" y="4481897"/>
            <a:ext cx="23013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2D16B781-626B-4260-8E83-31B574F10305}"/>
              </a:ext>
            </a:extLst>
          </p:cNvPr>
          <p:cNvCxnSpPr>
            <a:cxnSpLocks/>
          </p:cNvCxnSpPr>
          <p:nvPr/>
        </p:nvCxnSpPr>
        <p:spPr>
          <a:xfrm flipV="1">
            <a:off x="6675536" y="4895286"/>
            <a:ext cx="2267128" cy="48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4" name="TextBox 1053">
            <a:extLst>
              <a:ext uri="{FF2B5EF4-FFF2-40B4-BE49-F238E27FC236}">
                <a16:creationId xmlns:a16="http://schemas.microsoft.com/office/drawing/2014/main" id="{071E211B-4EF1-451E-B040-3D1E3D53F363}"/>
              </a:ext>
            </a:extLst>
          </p:cNvPr>
          <p:cNvSpPr txBox="1"/>
          <p:nvPr/>
        </p:nvSpPr>
        <p:spPr>
          <a:xfrm>
            <a:off x="4625131" y="1266201"/>
            <a:ext cx="562062" cy="234017"/>
          </a:xfrm>
          <a:prstGeom prst="rect">
            <a:avLst/>
          </a:prstGeom>
          <a:noFill/>
          <a:ln>
            <a:noFill/>
          </a:ln>
        </p:spPr>
        <p:txBody>
          <a:bodyPr wrap="square" rtlCol="0">
            <a:spAutoFit/>
          </a:bodyPr>
          <a:lstStyle/>
          <a:p>
            <a:r>
              <a:rPr lang="en-US" sz="900" dirty="0"/>
              <a:t>Student</a:t>
            </a:r>
          </a:p>
        </p:txBody>
      </p:sp>
      <p:sp>
        <p:nvSpPr>
          <p:cNvPr id="1055" name="TextBox 1054">
            <a:extLst>
              <a:ext uri="{FF2B5EF4-FFF2-40B4-BE49-F238E27FC236}">
                <a16:creationId xmlns:a16="http://schemas.microsoft.com/office/drawing/2014/main" id="{4E0A2087-D552-4A88-A47D-D9CECE1AE7CE}"/>
              </a:ext>
            </a:extLst>
          </p:cNvPr>
          <p:cNvSpPr txBox="1"/>
          <p:nvPr/>
        </p:nvSpPr>
        <p:spPr>
          <a:xfrm>
            <a:off x="9799737" y="1369173"/>
            <a:ext cx="1015070" cy="230832"/>
          </a:xfrm>
          <a:prstGeom prst="rect">
            <a:avLst/>
          </a:prstGeom>
          <a:noFill/>
          <a:ln>
            <a:noFill/>
          </a:ln>
        </p:spPr>
        <p:txBody>
          <a:bodyPr wrap="square" rtlCol="0">
            <a:spAutoFit/>
          </a:bodyPr>
          <a:lstStyle/>
          <a:p>
            <a:r>
              <a:rPr lang="en-US" sz="900" dirty="0"/>
              <a:t>Course Instructor</a:t>
            </a:r>
          </a:p>
        </p:txBody>
      </p:sp>
      <p:sp>
        <p:nvSpPr>
          <p:cNvPr id="32" name="TextBox 31">
            <a:extLst>
              <a:ext uri="{FF2B5EF4-FFF2-40B4-BE49-F238E27FC236}">
                <a16:creationId xmlns:a16="http://schemas.microsoft.com/office/drawing/2014/main" id="{BAAD4FCD-1822-412F-8856-A0D90DFF9208}"/>
              </a:ext>
            </a:extLst>
          </p:cNvPr>
          <p:cNvSpPr txBox="1"/>
          <p:nvPr/>
        </p:nvSpPr>
        <p:spPr>
          <a:xfrm>
            <a:off x="7178877" y="4121104"/>
            <a:ext cx="1226193" cy="230832"/>
          </a:xfrm>
          <a:prstGeom prst="rect">
            <a:avLst/>
          </a:prstGeom>
          <a:noFill/>
          <a:ln>
            <a:noFill/>
          </a:ln>
        </p:spPr>
        <p:txBody>
          <a:bodyPr wrap="square" rtlCol="0">
            <a:spAutoFit/>
          </a:bodyPr>
          <a:lstStyle/>
          <a:p>
            <a:r>
              <a:rPr lang="en-US" sz="900" dirty="0"/>
              <a:t>System Administrator</a:t>
            </a:r>
          </a:p>
        </p:txBody>
      </p:sp>
      <p:sp>
        <p:nvSpPr>
          <p:cNvPr id="33" name="TextBox 32">
            <a:extLst>
              <a:ext uri="{FF2B5EF4-FFF2-40B4-BE49-F238E27FC236}">
                <a16:creationId xmlns:a16="http://schemas.microsoft.com/office/drawing/2014/main" id="{F4A4C735-B701-419A-AE0F-3274A0613E91}"/>
              </a:ext>
            </a:extLst>
          </p:cNvPr>
          <p:cNvSpPr txBox="1"/>
          <p:nvPr/>
        </p:nvSpPr>
        <p:spPr>
          <a:xfrm>
            <a:off x="4371364" y="2073637"/>
            <a:ext cx="1139505" cy="507831"/>
          </a:xfrm>
          <a:prstGeom prst="rect">
            <a:avLst/>
          </a:prstGeom>
          <a:noFill/>
          <a:ln>
            <a:noFill/>
          </a:ln>
        </p:spPr>
        <p:txBody>
          <a:bodyPr wrap="square" rtlCol="0">
            <a:spAutoFit/>
          </a:bodyPr>
          <a:lstStyle/>
          <a:p>
            <a:r>
              <a:rPr lang="en-US" sz="900" dirty="0"/>
              <a:t>viewClasses()</a:t>
            </a:r>
          </a:p>
          <a:p>
            <a:r>
              <a:rPr lang="en-US" sz="900" dirty="0"/>
              <a:t>signUpAttendance()</a:t>
            </a:r>
          </a:p>
          <a:p>
            <a:r>
              <a:rPr lang="en-US" sz="900" dirty="0"/>
              <a:t>loginSystem()</a:t>
            </a:r>
          </a:p>
        </p:txBody>
      </p:sp>
      <p:sp>
        <p:nvSpPr>
          <p:cNvPr id="34" name="TextBox 33">
            <a:extLst>
              <a:ext uri="{FF2B5EF4-FFF2-40B4-BE49-F238E27FC236}">
                <a16:creationId xmlns:a16="http://schemas.microsoft.com/office/drawing/2014/main" id="{2D97A394-0A09-4D94-AB4D-930B835FCE43}"/>
              </a:ext>
            </a:extLst>
          </p:cNvPr>
          <p:cNvSpPr txBox="1"/>
          <p:nvPr/>
        </p:nvSpPr>
        <p:spPr>
          <a:xfrm>
            <a:off x="9756393" y="2168575"/>
            <a:ext cx="1296099" cy="507831"/>
          </a:xfrm>
          <a:prstGeom prst="rect">
            <a:avLst/>
          </a:prstGeom>
          <a:noFill/>
          <a:ln>
            <a:noFill/>
          </a:ln>
        </p:spPr>
        <p:txBody>
          <a:bodyPr wrap="square" rtlCol="0">
            <a:spAutoFit/>
          </a:bodyPr>
          <a:lstStyle/>
          <a:p>
            <a:r>
              <a:rPr lang="en-US" sz="900" dirty="0"/>
              <a:t>takeAttendance()</a:t>
            </a:r>
          </a:p>
          <a:p>
            <a:r>
              <a:rPr lang="en-US" sz="900" dirty="0"/>
              <a:t>viewListOfStudent()</a:t>
            </a:r>
          </a:p>
          <a:p>
            <a:r>
              <a:rPr lang="en-US" sz="900" dirty="0"/>
              <a:t>loginSystem()</a:t>
            </a:r>
          </a:p>
        </p:txBody>
      </p:sp>
      <p:sp>
        <p:nvSpPr>
          <p:cNvPr id="35" name="TextBox 34">
            <a:extLst>
              <a:ext uri="{FF2B5EF4-FFF2-40B4-BE49-F238E27FC236}">
                <a16:creationId xmlns:a16="http://schemas.microsoft.com/office/drawing/2014/main" id="{7556E87D-450B-43A6-82FC-F3F0810A7FA6}"/>
              </a:ext>
            </a:extLst>
          </p:cNvPr>
          <p:cNvSpPr txBox="1"/>
          <p:nvPr/>
        </p:nvSpPr>
        <p:spPr>
          <a:xfrm>
            <a:off x="7080658" y="4956473"/>
            <a:ext cx="1637250" cy="784830"/>
          </a:xfrm>
          <a:prstGeom prst="rect">
            <a:avLst/>
          </a:prstGeom>
          <a:noFill/>
          <a:ln>
            <a:noFill/>
          </a:ln>
        </p:spPr>
        <p:txBody>
          <a:bodyPr wrap="square" rtlCol="0">
            <a:spAutoFit/>
          </a:bodyPr>
          <a:lstStyle/>
          <a:p>
            <a:r>
              <a:rPr lang="en-US" sz="900" dirty="0"/>
              <a:t>loginSystem()</a:t>
            </a:r>
          </a:p>
          <a:p>
            <a:r>
              <a:rPr lang="en-US" sz="900" dirty="0"/>
              <a:t>accessAttendanceData()</a:t>
            </a:r>
          </a:p>
          <a:p>
            <a:r>
              <a:rPr lang="en-US" sz="900" dirty="0"/>
              <a:t>searchAttendanceByClass()</a:t>
            </a:r>
          </a:p>
          <a:p>
            <a:r>
              <a:rPr lang="en-US" sz="900" dirty="0"/>
              <a:t>searchAttendanceByStudent()</a:t>
            </a:r>
          </a:p>
          <a:p>
            <a:r>
              <a:rPr lang="en-US" sz="900" dirty="0"/>
              <a:t>generateExcelReport()</a:t>
            </a:r>
          </a:p>
        </p:txBody>
      </p:sp>
      <p:sp>
        <p:nvSpPr>
          <p:cNvPr id="49" name="Rectangle 48">
            <a:extLst>
              <a:ext uri="{FF2B5EF4-FFF2-40B4-BE49-F238E27FC236}">
                <a16:creationId xmlns:a16="http://schemas.microsoft.com/office/drawing/2014/main" id="{CD288E1A-0D51-4046-88C3-0CBA2FD06360}"/>
              </a:ext>
            </a:extLst>
          </p:cNvPr>
          <p:cNvSpPr/>
          <p:nvPr/>
        </p:nvSpPr>
        <p:spPr>
          <a:xfrm>
            <a:off x="3699545" y="184558"/>
            <a:ext cx="8246378" cy="66734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1F4A0DC6-F9B3-4CFB-AA51-F3BDEDA7E712}"/>
              </a:ext>
            </a:extLst>
          </p:cNvPr>
          <p:cNvSpPr txBox="1"/>
          <p:nvPr/>
        </p:nvSpPr>
        <p:spPr>
          <a:xfrm>
            <a:off x="6552850" y="332459"/>
            <a:ext cx="2403439" cy="261610"/>
          </a:xfrm>
          <a:prstGeom prst="rect">
            <a:avLst/>
          </a:prstGeom>
          <a:noFill/>
        </p:spPr>
        <p:txBody>
          <a:bodyPr wrap="square" rtlCol="0">
            <a:spAutoFit/>
          </a:bodyPr>
          <a:lstStyle/>
          <a:p>
            <a:r>
              <a:rPr lang="en-US" sz="1100" dirty="0"/>
              <a:t>Web Based Class Attendance System</a:t>
            </a:r>
          </a:p>
        </p:txBody>
      </p:sp>
      <p:sp>
        <p:nvSpPr>
          <p:cNvPr id="51" name="TextBox 50">
            <a:extLst>
              <a:ext uri="{FF2B5EF4-FFF2-40B4-BE49-F238E27FC236}">
                <a16:creationId xmlns:a16="http://schemas.microsoft.com/office/drawing/2014/main" id="{EF1C4F6F-2E07-456A-B8F3-B9ADA3165BA0}"/>
              </a:ext>
            </a:extLst>
          </p:cNvPr>
          <p:cNvSpPr txBox="1"/>
          <p:nvPr/>
        </p:nvSpPr>
        <p:spPr>
          <a:xfrm>
            <a:off x="4997741" y="1040357"/>
            <a:ext cx="448812" cy="230832"/>
          </a:xfrm>
          <a:prstGeom prst="rect">
            <a:avLst/>
          </a:prstGeom>
          <a:noFill/>
          <a:ln>
            <a:noFill/>
          </a:ln>
        </p:spPr>
        <p:txBody>
          <a:bodyPr wrap="square" rtlCol="0">
            <a:spAutoFit/>
          </a:bodyPr>
          <a:lstStyle/>
          <a:p>
            <a:r>
              <a:rPr lang="en-US" sz="900" dirty="0"/>
              <a:t>1…*</a:t>
            </a:r>
          </a:p>
        </p:txBody>
      </p:sp>
      <p:sp>
        <p:nvSpPr>
          <p:cNvPr id="91" name="TextBox 90">
            <a:extLst>
              <a:ext uri="{FF2B5EF4-FFF2-40B4-BE49-F238E27FC236}">
                <a16:creationId xmlns:a16="http://schemas.microsoft.com/office/drawing/2014/main" id="{B7B1BB1B-971B-4996-A892-232F843B1A44}"/>
              </a:ext>
            </a:extLst>
          </p:cNvPr>
          <p:cNvSpPr txBox="1"/>
          <p:nvPr/>
        </p:nvSpPr>
        <p:spPr>
          <a:xfrm>
            <a:off x="10324047" y="982856"/>
            <a:ext cx="448812" cy="230832"/>
          </a:xfrm>
          <a:prstGeom prst="rect">
            <a:avLst/>
          </a:prstGeom>
          <a:noFill/>
          <a:ln>
            <a:noFill/>
          </a:ln>
        </p:spPr>
        <p:txBody>
          <a:bodyPr wrap="square" rtlCol="0">
            <a:spAutoFit/>
          </a:bodyPr>
          <a:lstStyle/>
          <a:p>
            <a:r>
              <a:rPr lang="en-US" sz="900" dirty="0"/>
              <a:t>1…*</a:t>
            </a:r>
          </a:p>
        </p:txBody>
      </p:sp>
      <p:sp>
        <p:nvSpPr>
          <p:cNvPr id="93" name="TextBox 92">
            <a:extLst>
              <a:ext uri="{FF2B5EF4-FFF2-40B4-BE49-F238E27FC236}">
                <a16:creationId xmlns:a16="http://schemas.microsoft.com/office/drawing/2014/main" id="{8622859E-678A-46BA-9B27-AE37EA7F28C5}"/>
              </a:ext>
            </a:extLst>
          </p:cNvPr>
          <p:cNvSpPr txBox="1"/>
          <p:nvPr/>
        </p:nvSpPr>
        <p:spPr>
          <a:xfrm>
            <a:off x="6022247" y="2075236"/>
            <a:ext cx="433086" cy="230832"/>
          </a:xfrm>
          <a:prstGeom prst="rect">
            <a:avLst/>
          </a:prstGeom>
          <a:noFill/>
          <a:ln>
            <a:noFill/>
          </a:ln>
        </p:spPr>
        <p:txBody>
          <a:bodyPr wrap="square" rtlCol="0">
            <a:spAutoFit/>
          </a:bodyPr>
          <a:lstStyle/>
          <a:p>
            <a:r>
              <a:rPr lang="en-US" sz="900" dirty="0"/>
              <a:t>1…*</a:t>
            </a:r>
          </a:p>
        </p:txBody>
      </p:sp>
      <p:sp>
        <p:nvSpPr>
          <p:cNvPr id="94" name="TextBox 93">
            <a:extLst>
              <a:ext uri="{FF2B5EF4-FFF2-40B4-BE49-F238E27FC236}">
                <a16:creationId xmlns:a16="http://schemas.microsoft.com/office/drawing/2014/main" id="{BCC1589D-8E0B-4EDA-956F-ADF89F902B5B}"/>
              </a:ext>
            </a:extLst>
          </p:cNvPr>
          <p:cNvSpPr txBox="1"/>
          <p:nvPr/>
        </p:nvSpPr>
        <p:spPr>
          <a:xfrm>
            <a:off x="8179970" y="2025926"/>
            <a:ext cx="433086" cy="230832"/>
          </a:xfrm>
          <a:prstGeom prst="rect">
            <a:avLst/>
          </a:prstGeom>
          <a:noFill/>
          <a:ln>
            <a:noFill/>
          </a:ln>
        </p:spPr>
        <p:txBody>
          <a:bodyPr wrap="square" rtlCol="0">
            <a:spAutoFit/>
          </a:bodyPr>
          <a:lstStyle/>
          <a:p>
            <a:r>
              <a:rPr lang="en-US" sz="900" dirty="0"/>
              <a:t>1…*</a:t>
            </a:r>
          </a:p>
        </p:txBody>
      </p:sp>
      <p:sp>
        <p:nvSpPr>
          <p:cNvPr id="95" name="TextBox 94">
            <a:extLst>
              <a:ext uri="{FF2B5EF4-FFF2-40B4-BE49-F238E27FC236}">
                <a16:creationId xmlns:a16="http://schemas.microsoft.com/office/drawing/2014/main" id="{FBE23351-4E44-49C8-BA36-FF7A3CD88C25}"/>
              </a:ext>
            </a:extLst>
          </p:cNvPr>
          <p:cNvSpPr txBox="1"/>
          <p:nvPr/>
        </p:nvSpPr>
        <p:spPr>
          <a:xfrm>
            <a:off x="6675536" y="2053159"/>
            <a:ext cx="433086" cy="230832"/>
          </a:xfrm>
          <a:prstGeom prst="rect">
            <a:avLst/>
          </a:prstGeom>
          <a:noFill/>
          <a:ln>
            <a:noFill/>
          </a:ln>
        </p:spPr>
        <p:txBody>
          <a:bodyPr wrap="square" rtlCol="0">
            <a:spAutoFit/>
          </a:bodyPr>
          <a:lstStyle/>
          <a:p>
            <a:r>
              <a:rPr lang="en-US" sz="900" dirty="0"/>
              <a:t>1…*</a:t>
            </a:r>
          </a:p>
        </p:txBody>
      </p:sp>
      <p:sp>
        <p:nvSpPr>
          <p:cNvPr id="96" name="TextBox 95">
            <a:extLst>
              <a:ext uri="{FF2B5EF4-FFF2-40B4-BE49-F238E27FC236}">
                <a16:creationId xmlns:a16="http://schemas.microsoft.com/office/drawing/2014/main" id="{B0F5290C-776B-4821-848D-BBCE66F05105}"/>
              </a:ext>
            </a:extLst>
          </p:cNvPr>
          <p:cNvSpPr txBox="1"/>
          <p:nvPr/>
        </p:nvSpPr>
        <p:spPr>
          <a:xfrm>
            <a:off x="8941970" y="2017759"/>
            <a:ext cx="433086" cy="230832"/>
          </a:xfrm>
          <a:prstGeom prst="rect">
            <a:avLst/>
          </a:prstGeom>
          <a:noFill/>
          <a:ln>
            <a:noFill/>
          </a:ln>
        </p:spPr>
        <p:txBody>
          <a:bodyPr wrap="square" rtlCol="0">
            <a:spAutoFit/>
          </a:bodyPr>
          <a:lstStyle/>
          <a:p>
            <a:r>
              <a:rPr lang="en-US" sz="900" dirty="0"/>
              <a:t>1…*</a:t>
            </a:r>
          </a:p>
        </p:txBody>
      </p:sp>
      <p:sp>
        <p:nvSpPr>
          <p:cNvPr id="97" name="TextBox 96">
            <a:extLst>
              <a:ext uri="{FF2B5EF4-FFF2-40B4-BE49-F238E27FC236}">
                <a16:creationId xmlns:a16="http://schemas.microsoft.com/office/drawing/2014/main" id="{C598895D-EE51-48B1-B38D-6832A52211E4}"/>
              </a:ext>
            </a:extLst>
          </p:cNvPr>
          <p:cNvSpPr txBox="1"/>
          <p:nvPr/>
        </p:nvSpPr>
        <p:spPr>
          <a:xfrm>
            <a:off x="8902288" y="4900099"/>
            <a:ext cx="433086" cy="230832"/>
          </a:xfrm>
          <a:prstGeom prst="rect">
            <a:avLst/>
          </a:prstGeom>
          <a:noFill/>
          <a:ln>
            <a:noFill/>
          </a:ln>
        </p:spPr>
        <p:txBody>
          <a:bodyPr wrap="square" rtlCol="0">
            <a:spAutoFit/>
          </a:bodyPr>
          <a:lstStyle/>
          <a:p>
            <a:r>
              <a:rPr lang="en-US" sz="900" dirty="0"/>
              <a:t>1…*</a:t>
            </a:r>
          </a:p>
        </p:txBody>
      </p:sp>
      <p:sp>
        <p:nvSpPr>
          <p:cNvPr id="99" name="TextBox 98">
            <a:extLst>
              <a:ext uri="{FF2B5EF4-FFF2-40B4-BE49-F238E27FC236}">
                <a16:creationId xmlns:a16="http://schemas.microsoft.com/office/drawing/2014/main" id="{9F88D4CF-6C7F-4B10-8A03-03E5D0DA1162}"/>
              </a:ext>
            </a:extLst>
          </p:cNvPr>
          <p:cNvSpPr txBox="1"/>
          <p:nvPr/>
        </p:nvSpPr>
        <p:spPr>
          <a:xfrm>
            <a:off x="10090729" y="2798857"/>
            <a:ext cx="433086" cy="230832"/>
          </a:xfrm>
          <a:prstGeom prst="rect">
            <a:avLst/>
          </a:prstGeom>
          <a:noFill/>
          <a:ln>
            <a:noFill/>
          </a:ln>
        </p:spPr>
        <p:txBody>
          <a:bodyPr wrap="square" rtlCol="0">
            <a:spAutoFit/>
          </a:bodyPr>
          <a:lstStyle/>
          <a:p>
            <a:r>
              <a:rPr lang="en-US" sz="900" dirty="0"/>
              <a:t>1</a:t>
            </a:r>
          </a:p>
        </p:txBody>
      </p:sp>
      <p:sp>
        <p:nvSpPr>
          <p:cNvPr id="100" name="TextBox 99">
            <a:extLst>
              <a:ext uri="{FF2B5EF4-FFF2-40B4-BE49-F238E27FC236}">
                <a16:creationId xmlns:a16="http://schemas.microsoft.com/office/drawing/2014/main" id="{11F672D3-E5CB-4690-8D0C-BC231B10953B}"/>
              </a:ext>
            </a:extLst>
          </p:cNvPr>
          <p:cNvSpPr txBox="1"/>
          <p:nvPr/>
        </p:nvSpPr>
        <p:spPr>
          <a:xfrm>
            <a:off x="4781198" y="2791717"/>
            <a:ext cx="433086" cy="230832"/>
          </a:xfrm>
          <a:prstGeom prst="rect">
            <a:avLst/>
          </a:prstGeom>
          <a:noFill/>
          <a:ln>
            <a:noFill/>
          </a:ln>
        </p:spPr>
        <p:txBody>
          <a:bodyPr wrap="square" rtlCol="0">
            <a:spAutoFit/>
          </a:bodyPr>
          <a:lstStyle/>
          <a:p>
            <a:r>
              <a:rPr lang="en-US" sz="900" dirty="0"/>
              <a:t>1</a:t>
            </a:r>
          </a:p>
        </p:txBody>
      </p:sp>
      <p:sp>
        <p:nvSpPr>
          <p:cNvPr id="101" name="TextBox 100">
            <a:extLst>
              <a:ext uri="{FF2B5EF4-FFF2-40B4-BE49-F238E27FC236}">
                <a16:creationId xmlns:a16="http://schemas.microsoft.com/office/drawing/2014/main" id="{69FC2779-7920-405D-A5EB-6BB6583DCA74}"/>
              </a:ext>
            </a:extLst>
          </p:cNvPr>
          <p:cNvSpPr txBox="1"/>
          <p:nvPr/>
        </p:nvSpPr>
        <p:spPr>
          <a:xfrm>
            <a:off x="6385935" y="4687008"/>
            <a:ext cx="368245" cy="230832"/>
          </a:xfrm>
          <a:prstGeom prst="rect">
            <a:avLst/>
          </a:prstGeom>
          <a:noFill/>
          <a:ln>
            <a:noFill/>
          </a:ln>
        </p:spPr>
        <p:txBody>
          <a:bodyPr wrap="square" rtlCol="0">
            <a:spAutoFit/>
          </a:bodyPr>
          <a:lstStyle/>
          <a:p>
            <a:r>
              <a:rPr lang="en-US" sz="900" dirty="0"/>
              <a:t>1</a:t>
            </a:r>
          </a:p>
        </p:txBody>
      </p:sp>
      <p:sp>
        <p:nvSpPr>
          <p:cNvPr id="102" name="TextBox 101">
            <a:extLst>
              <a:ext uri="{FF2B5EF4-FFF2-40B4-BE49-F238E27FC236}">
                <a16:creationId xmlns:a16="http://schemas.microsoft.com/office/drawing/2014/main" id="{39454B94-3589-4EAF-9B94-E08DF9A5160D}"/>
              </a:ext>
            </a:extLst>
          </p:cNvPr>
          <p:cNvSpPr txBox="1"/>
          <p:nvPr/>
        </p:nvSpPr>
        <p:spPr>
          <a:xfrm>
            <a:off x="9971356" y="4689702"/>
            <a:ext cx="433086" cy="230832"/>
          </a:xfrm>
          <a:prstGeom prst="rect">
            <a:avLst/>
          </a:prstGeom>
          <a:noFill/>
          <a:ln>
            <a:noFill/>
          </a:ln>
        </p:spPr>
        <p:txBody>
          <a:bodyPr wrap="square" rtlCol="0">
            <a:spAutoFit/>
          </a:bodyPr>
          <a:lstStyle/>
          <a:p>
            <a:r>
              <a:rPr lang="en-US" sz="900" dirty="0"/>
              <a:t>1</a:t>
            </a:r>
          </a:p>
        </p:txBody>
      </p:sp>
      <p:sp>
        <p:nvSpPr>
          <p:cNvPr id="103" name="TextBox 102">
            <a:extLst>
              <a:ext uri="{FF2B5EF4-FFF2-40B4-BE49-F238E27FC236}">
                <a16:creationId xmlns:a16="http://schemas.microsoft.com/office/drawing/2014/main" id="{87E1E245-72B5-45FC-BD63-86E3F376BD04}"/>
              </a:ext>
            </a:extLst>
          </p:cNvPr>
          <p:cNvSpPr txBox="1"/>
          <p:nvPr/>
        </p:nvSpPr>
        <p:spPr>
          <a:xfrm>
            <a:off x="7607850" y="5758598"/>
            <a:ext cx="368245" cy="230832"/>
          </a:xfrm>
          <a:prstGeom prst="rect">
            <a:avLst/>
          </a:prstGeom>
          <a:noFill/>
          <a:ln>
            <a:noFill/>
          </a:ln>
        </p:spPr>
        <p:txBody>
          <a:bodyPr wrap="square" rtlCol="0">
            <a:spAutoFit/>
          </a:bodyPr>
          <a:lstStyle/>
          <a:p>
            <a:r>
              <a:rPr lang="en-US" sz="900" dirty="0"/>
              <a:t>1</a:t>
            </a:r>
          </a:p>
        </p:txBody>
      </p:sp>
      <p:sp>
        <p:nvSpPr>
          <p:cNvPr id="104" name="TextBox 103">
            <a:extLst>
              <a:ext uri="{FF2B5EF4-FFF2-40B4-BE49-F238E27FC236}">
                <a16:creationId xmlns:a16="http://schemas.microsoft.com/office/drawing/2014/main" id="{D54763D0-1121-4996-8237-4172D70727D1}"/>
              </a:ext>
            </a:extLst>
          </p:cNvPr>
          <p:cNvSpPr txBox="1"/>
          <p:nvPr/>
        </p:nvSpPr>
        <p:spPr>
          <a:xfrm>
            <a:off x="7791972" y="5909845"/>
            <a:ext cx="392225" cy="230832"/>
          </a:xfrm>
          <a:prstGeom prst="rect">
            <a:avLst/>
          </a:prstGeom>
          <a:noFill/>
          <a:ln>
            <a:noFill/>
          </a:ln>
        </p:spPr>
        <p:txBody>
          <a:bodyPr wrap="square" rtlCol="0">
            <a:spAutoFit/>
          </a:bodyPr>
          <a:lstStyle/>
          <a:p>
            <a:r>
              <a:rPr lang="en-US" sz="900" dirty="0"/>
              <a:t>0…*</a:t>
            </a:r>
          </a:p>
        </p:txBody>
      </p:sp>
      <p:sp>
        <p:nvSpPr>
          <p:cNvPr id="105" name="TextBox 104">
            <a:extLst>
              <a:ext uri="{FF2B5EF4-FFF2-40B4-BE49-F238E27FC236}">
                <a16:creationId xmlns:a16="http://schemas.microsoft.com/office/drawing/2014/main" id="{92A2A5F7-1C2A-44BC-A40D-B79EEC73E1A6}"/>
              </a:ext>
            </a:extLst>
          </p:cNvPr>
          <p:cNvSpPr txBox="1"/>
          <p:nvPr/>
        </p:nvSpPr>
        <p:spPr>
          <a:xfrm>
            <a:off x="5562423" y="3829768"/>
            <a:ext cx="433086" cy="230832"/>
          </a:xfrm>
          <a:prstGeom prst="rect">
            <a:avLst/>
          </a:prstGeom>
          <a:noFill/>
          <a:ln>
            <a:noFill/>
          </a:ln>
        </p:spPr>
        <p:txBody>
          <a:bodyPr wrap="square" rtlCol="0">
            <a:spAutoFit/>
          </a:bodyPr>
          <a:lstStyle/>
          <a:p>
            <a:r>
              <a:rPr lang="en-US" sz="900" dirty="0"/>
              <a:t>0…*</a:t>
            </a:r>
          </a:p>
        </p:txBody>
      </p:sp>
      <p:sp>
        <p:nvSpPr>
          <p:cNvPr id="106" name="TextBox 105">
            <a:extLst>
              <a:ext uri="{FF2B5EF4-FFF2-40B4-BE49-F238E27FC236}">
                <a16:creationId xmlns:a16="http://schemas.microsoft.com/office/drawing/2014/main" id="{FC4D2434-F4D2-4792-969E-61AFFA9600C4}"/>
              </a:ext>
            </a:extLst>
          </p:cNvPr>
          <p:cNvSpPr txBox="1"/>
          <p:nvPr/>
        </p:nvSpPr>
        <p:spPr>
          <a:xfrm>
            <a:off x="4993220" y="3189988"/>
            <a:ext cx="442128" cy="230832"/>
          </a:xfrm>
          <a:prstGeom prst="rect">
            <a:avLst/>
          </a:prstGeom>
          <a:noFill/>
          <a:ln>
            <a:noFill/>
          </a:ln>
        </p:spPr>
        <p:txBody>
          <a:bodyPr wrap="square" rtlCol="0">
            <a:spAutoFit/>
          </a:bodyPr>
          <a:lstStyle/>
          <a:p>
            <a:r>
              <a:rPr lang="en-US" sz="900" dirty="0"/>
              <a:t>0…*</a:t>
            </a:r>
          </a:p>
        </p:txBody>
      </p:sp>
      <p:sp>
        <p:nvSpPr>
          <p:cNvPr id="107" name="TextBox 106">
            <a:extLst>
              <a:ext uri="{FF2B5EF4-FFF2-40B4-BE49-F238E27FC236}">
                <a16:creationId xmlns:a16="http://schemas.microsoft.com/office/drawing/2014/main" id="{8BFCCD9E-9155-4C21-8CA2-D2066C280A63}"/>
              </a:ext>
            </a:extLst>
          </p:cNvPr>
          <p:cNvSpPr txBox="1"/>
          <p:nvPr/>
        </p:nvSpPr>
        <p:spPr>
          <a:xfrm>
            <a:off x="4658159" y="4259299"/>
            <a:ext cx="433086" cy="230832"/>
          </a:xfrm>
          <a:prstGeom prst="rect">
            <a:avLst/>
          </a:prstGeom>
          <a:noFill/>
          <a:ln>
            <a:noFill/>
          </a:ln>
        </p:spPr>
        <p:txBody>
          <a:bodyPr wrap="square" rtlCol="0">
            <a:spAutoFit/>
          </a:bodyPr>
          <a:lstStyle/>
          <a:p>
            <a:r>
              <a:rPr lang="en-US" sz="900" dirty="0"/>
              <a:t>0…*</a:t>
            </a:r>
          </a:p>
        </p:txBody>
      </p:sp>
    </p:spTree>
    <p:extLst>
      <p:ext uri="{BB962C8B-B14F-4D97-AF65-F5344CB8AC3E}">
        <p14:creationId xmlns:p14="http://schemas.microsoft.com/office/powerpoint/2010/main" val="1793113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E394-596A-4A7A-8E7B-AE52BD0E54DB}"/>
              </a:ext>
            </a:extLst>
          </p:cNvPr>
          <p:cNvSpPr>
            <a:spLocks noGrp="1"/>
          </p:cNvSpPr>
          <p:nvPr>
            <p:ph type="title"/>
          </p:nvPr>
        </p:nvSpPr>
        <p:spPr>
          <a:xfrm>
            <a:off x="4286774" y="305731"/>
            <a:ext cx="3649212" cy="750611"/>
          </a:xfrm>
        </p:spPr>
        <p:txBody>
          <a:bodyPr/>
          <a:lstStyle/>
          <a:p>
            <a:r>
              <a:rPr lang="en-US" b="1" dirty="0"/>
              <a:t>Test Scenarios</a:t>
            </a:r>
            <a:endParaRPr lang="en-US" dirty="0"/>
          </a:p>
        </p:txBody>
      </p:sp>
      <p:sp>
        <p:nvSpPr>
          <p:cNvPr id="24" name="TextBox 23">
            <a:extLst>
              <a:ext uri="{FF2B5EF4-FFF2-40B4-BE49-F238E27FC236}">
                <a16:creationId xmlns:a16="http://schemas.microsoft.com/office/drawing/2014/main" id="{242FC8B6-3052-430F-B695-4728343A0D21}"/>
              </a:ext>
            </a:extLst>
          </p:cNvPr>
          <p:cNvSpPr txBox="1"/>
          <p:nvPr/>
        </p:nvSpPr>
        <p:spPr>
          <a:xfrm>
            <a:off x="1510784" y="2389743"/>
            <a:ext cx="1270932" cy="276999"/>
          </a:xfrm>
          <a:prstGeom prst="rect">
            <a:avLst/>
          </a:prstGeom>
          <a:noFill/>
        </p:spPr>
        <p:txBody>
          <a:bodyPr wrap="square" rtlCol="0">
            <a:spAutoFit/>
          </a:bodyPr>
          <a:lstStyle/>
          <a:p>
            <a:r>
              <a:rPr lang="en-US" sz="1200" b="1" dirty="0"/>
              <a:t>Login to system</a:t>
            </a:r>
          </a:p>
        </p:txBody>
      </p:sp>
      <p:sp>
        <p:nvSpPr>
          <p:cNvPr id="25" name="TextBox 24">
            <a:extLst>
              <a:ext uri="{FF2B5EF4-FFF2-40B4-BE49-F238E27FC236}">
                <a16:creationId xmlns:a16="http://schemas.microsoft.com/office/drawing/2014/main" id="{0E448953-E778-4152-8089-F936E98E0B95}"/>
              </a:ext>
            </a:extLst>
          </p:cNvPr>
          <p:cNvSpPr txBox="1"/>
          <p:nvPr/>
        </p:nvSpPr>
        <p:spPr>
          <a:xfrm>
            <a:off x="5326311" y="3454335"/>
            <a:ext cx="1284214" cy="461665"/>
          </a:xfrm>
          <a:prstGeom prst="rect">
            <a:avLst/>
          </a:prstGeom>
          <a:noFill/>
        </p:spPr>
        <p:txBody>
          <a:bodyPr wrap="square" rtlCol="0">
            <a:spAutoFit/>
          </a:bodyPr>
          <a:lstStyle/>
          <a:p>
            <a:r>
              <a:rPr lang="en-US" sz="1200" b="1" dirty="0"/>
              <a:t>View registered classes</a:t>
            </a:r>
          </a:p>
        </p:txBody>
      </p:sp>
      <p:sp>
        <p:nvSpPr>
          <p:cNvPr id="26" name="TextBox 25">
            <a:extLst>
              <a:ext uri="{FF2B5EF4-FFF2-40B4-BE49-F238E27FC236}">
                <a16:creationId xmlns:a16="http://schemas.microsoft.com/office/drawing/2014/main" id="{7E7ADF23-4AF9-4902-9AFE-1748A67CD9B7}"/>
              </a:ext>
            </a:extLst>
          </p:cNvPr>
          <p:cNvSpPr txBox="1"/>
          <p:nvPr/>
        </p:nvSpPr>
        <p:spPr>
          <a:xfrm>
            <a:off x="3791129" y="4651586"/>
            <a:ext cx="1412321" cy="461665"/>
          </a:xfrm>
          <a:prstGeom prst="rect">
            <a:avLst/>
          </a:prstGeom>
          <a:noFill/>
        </p:spPr>
        <p:txBody>
          <a:bodyPr wrap="square" rtlCol="0">
            <a:spAutoFit/>
          </a:bodyPr>
          <a:lstStyle/>
          <a:p>
            <a:r>
              <a:rPr lang="en-US" sz="1200" b="1" dirty="0"/>
              <a:t>Sign up attendance for class</a:t>
            </a:r>
          </a:p>
        </p:txBody>
      </p:sp>
      <p:sp>
        <p:nvSpPr>
          <p:cNvPr id="27" name="TextBox 26">
            <a:extLst>
              <a:ext uri="{FF2B5EF4-FFF2-40B4-BE49-F238E27FC236}">
                <a16:creationId xmlns:a16="http://schemas.microsoft.com/office/drawing/2014/main" id="{4A3885C5-8D7E-4C87-8FD8-38EB472204B1}"/>
              </a:ext>
            </a:extLst>
          </p:cNvPr>
          <p:cNvSpPr txBox="1"/>
          <p:nvPr/>
        </p:nvSpPr>
        <p:spPr>
          <a:xfrm>
            <a:off x="2640085" y="3463452"/>
            <a:ext cx="1302391" cy="461665"/>
          </a:xfrm>
          <a:prstGeom prst="rect">
            <a:avLst/>
          </a:prstGeom>
          <a:noFill/>
        </p:spPr>
        <p:txBody>
          <a:bodyPr wrap="square" rtlCol="0">
            <a:spAutoFit/>
          </a:bodyPr>
          <a:lstStyle/>
          <a:p>
            <a:r>
              <a:rPr lang="en-US" sz="1200" b="1" dirty="0"/>
              <a:t>Take attendance for each session</a:t>
            </a:r>
          </a:p>
        </p:txBody>
      </p:sp>
      <p:sp>
        <p:nvSpPr>
          <p:cNvPr id="28" name="TextBox 27">
            <a:extLst>
              <a:ext uri="{FF2B5EF4-FFF2-40B4-BE49-F238E27FC236}">
                <a16:creationId xmlns:a16="http://schemas.microsoft.com/office/drawing/2014/main" id="{7E9D2B3F-A1BE-4E35-80CF-44F67A4F9DF8}"/>
              </a:ext>
            </a:extLst>
          </p:cNvPr>
          <p:cNvSpPr txBox="1"/>
          <p:nvPr/>
        </p:nvSpPr>
        <p:spPr>
          <a:xfrm>
            <a:off x="7664742" y="3500818"/>
            <a:ext cx="1638649" cy="461665"/>
          </a:xfrm>
          <a:prstGeom prst="rect">
            <a:avLst/>
          </a:prstGeom>
          <a:noFill/>
        </p:spPr>
        <p:txBody>
          <a:bodyPr wrap="square" rtlCol="0">
            <a:spAutoFit/>
          </a:bodyPr>
          <a:lstStyle/>
          <a:p>
            <a:r>
              <a:rPr lang="en-US" sz="1200" b="1" dirty="0"/>
              <a:t>View list of Registered students</a:t>
            </a:r>
          </a:p>
        </p:txBody>
      </p:sp>
      <p:sp>
        <p:nvSpPr>
          <p:cNvPr id="29" name="TextBox 28">
            <a:extLst>
              <a:ext uri="{FF2B5EF4-FFF2-40B4-BE49-F238E27FC236}">
                <a16:creationId xmlns:a16="http://schemas.microsoft.com/office/drawing/2014/main" id="{C0497A86-48B7-48C9-9A5F-1F62DF782D10}"/>
              </a:ext>
            </a:extLst>
          </p:cNvPr>
          <p:cNvSpPr txBox="1"/>
          <p:nvPr/>
        </p:nvSpPr>
        <p:spPr>
          <a:xfrm>
            <a:off x="9031581" y="2297411"/>
            <a:ext cx="1307284" cy="461665"/>
          </a:xfrm>
          <a:prstGeom prst="rect">
            <a:avLst/>
          </a:prstGeom>
          <a:noFill/>
        </p:spPr>
        <p:txBody>
          <a:bodyPr wrap="square" rtlCol="0">
            <a:spAutoFit/>
          </a:bodyPr>
          <a:lstStyle/>
          <a:p>
            <a:r>
              <a:rPr lang="en-US" sz="1200" b="1" dirty="0"/>
              <a:t>Access attendance data</a:t>
            </a:r>
          </a:p>
        </p:txBody>
      </p:sp>
      <p:sp>
        <p:nvSpPr>
          <p:cNvPr id="30" name="TextBox 29">
            <a:extLst>
              <a:ext uri="{FF2B5EF4-FFF2-40B4-BE49-F238E27FC236}">
                <a16:creationId xmlns:a16="http://schemas.microsoft.com/office/drawing/2014/main" id="{F6A1BDAA-BC8C-4E1B-A3C4-D05BE75834BF}"/>
              </a:ext>
            </a:extLst>
          </p:cNvPr>
          <p:cNvSpPr txBox="1"/>
          <p:nvPr/>
        </p:nvSpPr>
        <p:spPr>
          <a:xfrm>
            <a:off x="3691032" y="2320816"/>
            <a:ext cx="1612517" cy="461665"/>
          </a:xfrm>
          <a:prstGeom prst="rect">
            <a:avLst/>
          </a:prstGeom>
          <a:noFill/>
        </p:spPr>
        <p:txBody>
          <a:bodyPr wrap="square" rtlCol="0">
            <a:spAutoFit/>
          </a:bodyPr>
          <a:lstStyle/>
          <a:p>
            <a:r>
              <a:rPr lang="en-US" sz="1200" b="1" dirty="0"/>
              <a:t>Search for attendance by class filter</a:t>
            </a:r>
          </a:p>
        </p:txBody>
      </p:sp>
      <p:sp>
        <p:nvSpPr>
          <p:cNvPr id="35" name="TextBox 34">
            <a:extLst>
              <a:ext uri="{FF2B5EF4-FFF2-40B4-BE49-F238E27FC236}">
                <a16:creationId xmlns:a16="http://schemas.microsoft.com/office/drawing/2014/main" id="{C825604C-6E61-40C6-927B-E7E1C7A73E1C}"/>
              </a:ext>
            </a:extLst>
          </p:cNvPr>
          <p:cNvSpPr txBox="1"/>
          <p:nvPr/>
        </p:nvSpPr>
        <p:spPr>
          <a:xfrm>
            <a:off x="6242109" y="2335499"/>
            <a:ext cx="1583422" cy="461665"/>
          </a:xfrm>
          <a:prstGeom prst="rect">
            <a:avLst/>
          </a:prstGeom>
          <a:noFill/>
        </p:spPr>
        <p:txBody>
          <a:bodyPr wrap="square" rtlCol="0">
            <a:spAutoFit/>
          </a:bodyPr>
          <a:lstStyle/>
          <a:p>
            <a:r>
              <a:rPr lang="en-US" sz="1200" b="1" dirty="0"/>
              <a:t>Search for attendance by student filter</a:t>
            </a:r>
          </a:p>
        </p:txBody>
      </p:sp>
      <p:sp>
        <p:nvSpPr>
          <p:cNvPr id="36" name="TextBox 35">
            <a:extLst>
              <a:ext uri="{FF2B5EF4-FFF2-40B4-BE49-F238E27FC236}">
                <a16:creationId xmlns:a16="http://schemas.microsoft.com/office/drawing/2014/main" id="{F836B8C1-2037-4D8E-B5D5-40949D1B5C69}"/>
              </a:ext>
            </a:extLst>
          </p:cNvPr>
          <p:cNvSpPr txBox="1"/>
          <p:nvPr/>
        </p:nvSpPr>
        <p:spPr>
          <a:xfrm>
            <a:off x="6627303" y="4674989"/>
            <a:ext cx="1166069" cy="461666"/>
          </a:xfrm>
          <a:prstGeom prst="rect">
            <a:avLst/>
          </a:prstGeom>
          <a:noFill/>
        </p:spPr>
        <p:txBody>
          <a:bodyPr wrap="square" rtlCol="0">
            <a:spAutoFit/>
          </a:bodyPr>
          <a:lstStyle/>
          <a:p>
            <a:r>
              <a:rPr lang="en-US" sz="1200" b="1" dirty="0"/>
              <a:t>Generate Excel report</a:t>
            </a:r>
          </a:p>
        </p:txBody>
      </p:sp>
      <p:sp>
        <p:nvSpPr>
          <p:cNvPr id="37" name="Rectangle 36">
            <a:extLst>
              <a:ext uri="{FF2B5EF4-FFF2-40B4-BE49-F238E27FC236}">
                <a16:creationId xmlns:a16="http://schemas.microsoft.com/office/drawing/2014/main" id="{967C6CBB-D450-4FA7-98FA-60C64F6C2BD6}"/>
              </a:ext>
            </a:extLst>
          </p:cNvPr>
          <p:cNvSpPr/>
          <p:nvPr/>
        </p:nvSpPr>
        <p:spPr>
          <a:xfrm>
            <a:off x="3713794" y="2186985"/>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2BB24B1-AC06-4A4D-8486-B5286B120AFB}"/>
              </a:ext>
            </a:extLst>
          </p:cNvPr>
          <p:cNvSpPr/>
          <p:nvPr/>
        </p:nvSpPr>
        <p:spPr>
          <a:xfrm>
            <a:off x="2536272" y="3325168"/>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F5D54BC-B5FA-4912-A338-F3645257FD3F}"/>
              </a:ext>
            </a:extLst>
          </p:cNvPr>
          <p:cNvSpPr/>
          <p:nvPr/>
        </p:nvSpPr>
        <p:spPr>
          <a:xfrm>
            <a:off x="1368804" y="2182536"/>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D56D362-A872-4A2D-84B4-55C6CD13689A}"/>
              </a:ext>
            </a:extLst>
          </p:cNvPr>
          <p:cNvSpPr/>
          <p:nvPr/>
        </p:nvSpPr>
        <p:spPr>
          <a:xfrm>
            <a:off x="6242109" y="2186985"/>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BD49CC5-39AE-4073-991F-AA2A28FBC7FA}"/>
              </a:ext>
            </a:extLst>
          </p:cNvPr>
          <p:cNvSpPr/>
          <p:nvPr/>
        </p:nvSpPr>
        <p:spPr>
          <a:xfrm>
            <a:off x="8828847" y="2182534"/>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AB2D377-C013-4606-802A-30FD93520667}"/>
              </a:ext>
            </a:extLst>
          </p:cNvPr>
          <p:cNvSpPr/>
          <p:nvPr/>
        </p:nvSpPr>
        <p:spPr>
          <a:xfrm>
            <a:off x="5100507" y="3319823"/>
            <a:ext cx="1510018" cy="738231"/>
          </a:xfrm>
          <a:prstGeom prst="rect">
            <a:avLst/>
          </a:prstGeom>
          <a:no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B79052E-9919-42C6-A128-074E31956219}"/>
              </a:ext>
            </a:extLst>
          </p:cNvPr>
          <p:cNvSpPr/>
          <p:nvPr/>
        </p:nvSpPr>
        <p:spPr>
          <a:xfrm>
            <a:off x="7664742" y="3351065"/>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2944CF2-C70B-465E-929C-DAA2FE5B61C3}"/>
              </a:ext>
            </a:extLst>
          </p:cNvPr>
          <p:cNvSpPr/>
          <p:nvPr/>
        </p:nvSpPr>
        <p:spPr>
          <a:xfrm>
            <a:off x="3713794" y="4513304"/>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7E084F6-ECE8-48DE-8F65-0EB51C8B2DAC}"/>
              </a:ext>
            </a:extLst>
          </p:cNvPr>
          <p:cNvSpPr/>
          <p:nvPr/>
        </p:nvSpPr>
        <p:spPr>
          <a:xfrm>
            <a:off x="6455329" y="4519596"/>
            <a:ext cx="1510018" cy="738231"/>
          </a:xfrm>
          <a:prstGeom prst="rect">
            <a:avLst/>
          </a:prstGeom>
          <a:noFill/>
          <a:ln w="63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620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AEF19-F587-40A7-A612-9928DD958EEE}"/>
              </a:ext>
            </a:extLst>
          </p:cNvPr>
          <p:cNvSpPr>
            <a:spLocks noGrp="1"/>
          </p:cNvSpPr>
          <p:nvPr>
            <p:ph type="title"/>
          </p:nvPr>
        </p:nvSpPr>
        <p:spPr/>
        <p:txBody>
          <a:bodyPr/>
          <a:lstStyle/>
          <a:p>
            <a:r>
              <a:rPr lang="en-US" b="1" dirty="0"/>
              <a:t>                     WEB-BASED COURSE </a:t>
            </a:r>
            <a:br>
              <a:rPr lang="en-US" b="1" dirty="0"/>
            </a:br>
            <a:r>
              <a:rPr lang="en-US" b="1" dirty="0"/>
              <a:t>                    ATTENDANCE SYSTEM</a:t>
            </a:r>
          </a:p>
        </p:txBody>
      </p:sp>
      <p:sp>
        <p:nvSpPr>
          <p:cNvPr id="4" name="Rectangle 3">
            <a:extLst>
              <a:ext uri="{FF2B5EF4-FFF2-40B4-BE49-F238E27FC236}">
                <a16:creationId xmlns:a16="http://schemas.microsoft.com/office/drawing/2014/main" id="{A478736C-C600-42EA-9128-F0826D226373}"/>
              </a:ext>
            </a:extLst>
          </p:cNvPr>
          <p:cNvSpPr/>
          <p:nvPr/>
        </p:nvSpPr>
        <p:spPr>
          <a:xfrm>
            <a:off x="2678884" y="2738633"/>
            <a:ext cx="6096000" cy="3662541"/>
          </a:xfrm>
          <a:prstGeom prst="rect">
            <a:avLst/>
          </a:prstGeom>
        </p:spPr>
        <p:txBody>
          <a:bodyPr>
            <a:spAutoFit/>
          </a:bodyPr>
          <a:lstStyle/>
          <a:p>
            <a:pPr indent="457200" algn="ctr">
              <a:spcAft>
                <a:spcPts val="1200"/>
              </a:spcAft>
            </a:pPr>
            <a:r>
              <a:rPr lang="en-US" b="1" dirty="0">
                <a:solidFill>
                  <a:srgbClr val="000000"/>
                </a:solidFill>
                <a:latin typeface="Times New Roman" panose="02020603050405020304" pitchFamily="18" charset="0"/>
              </a:rPr>
              <a:t>A Solution for Attendance</a:t>
            </a:r>
            <a:endParaRPr lang="en-US" dirty="0"/>
          </a:p>
          <a:p>
            <a:pPr indent="457200" algn="ctr">
              <a:spcAft>
                <a:spcPts val="1200"/>
              </a:spcAft>
            </a:pPr>
            <a:r>
              <a:rPr lang="en-US" b="1" dirty="0">
                <a:solidFill>
                  <a:srgbClr val="000000"/>
                </a:solidFill>
                <a:latin typeface="Times New Roman" panose="02020603050405020304" pitchFamily="18" charset="0"/>
              </a:rPr>
              <a:t>By</a:t>
            </a:r>
            <a:endParaRPr lang="en-US" dirty="0"/>
          </a:p>
          <a:p>
            <a:pPr indent="457200" algn="ctr">
              <a:spcAft>
                <a:spcPts val="1200"/>
              </a:spcAft>
            </a:pPr>
            <a:r>
              <a:rPr lang="en-US" b="1" dirty="0">
                <a:solidFill>
                  <a:srgbClr val="000000"/>
                </a:solidFill>
                <a:latin typeface="Times New Roman" panose="02020603050405020304" pitchFamily="18" charset="0"/>
              </a:rPr>
              <a:t>Ronald Procida (</a:t>
            </a:r>
            <a:r>
              <a:rPr lang="en-US" b="1" u="sng" dirty="0">
                <a:solidFill>
                  <a:srgbClr val="1155CC"/>
                </a:solidFill>
                <a:latin typeface="Times New Roman" panose="02020603050405020304" pitchFamily="18" charset="0"/>
                <a:hlinkClick r:id="rId2">
                  <a:extLst>
                    <a:ext uri="{A12FA001-AC4F-418D-AE19-62706E023703}">
                      <ahyp:hlinkClr xmlns:ahyp="http://schemas.microsoft.com/office/drawing/2018/hyperlinkcolor" val="tx"/>
                    </a:ext>
                  </a:extLst>
                </a:hlinkClick>
              </a:rPr>
              <a:t>procida.ronald@gmail.com</a:t>
            </a:r>
            <a:r>
              <a:rPr lang="en-US" b="1" dirty="0">
                <a:solidFill>
                  <a:srgbClr val="000000"/>
                </a:solidFill>
                <a:latin typeface="Times New Roman" panose="02020603050405020304" pitchFamily="18" charset="0"/>
              </a:rPr>
              <a:t>)</a:t>
            </a:r>
            <a:endParaRPr lang="en-US" dirty="0"/>
          </a:p>
          <a:p>
            <a:pPr indent="457200" algn="ctr">
              <a:spcAft>
                <a:spcPts val="1200"/>
              </a:spcAft>
            </a:pPr>
            <a:r>
              <a:rPr lang="en-US" b="1" dirty="0">
                <a:solidFill>
                  <a:srgbClr val="000000"/>
                </a:solidFill>
                <a:latin typeface="Times New Roman" panose="02020603050405020304" pitchFamily="18" charset="0"/>
              </a:rPr>
              <a:t>Abdul Wahab (</a:t>
            </a:r>
            <a:r>
              <a:rPr lang="en-US" b="1" u="sng" dirty="0">
                <a:solidFill>
                  <a:srgbClr val="1155CC"/>
                </a:solidFill>
                <a:latin typeface="Times New Roman" panose="02020603050405020304" pitchFamily="18" charset="0"/>
                <a:hlinkClick r:id="rId3">
                  <a:extLst>
                    <a:ext uri="{A12FA001-AC4F-418D-AE19-62706E023703}">
                      <ahyp:hlinkClr xmlns:ahyp="http://schemas.microsoft.com/office/drawing/2018/hyperlinkcolor" val="tx"/>
                    </a:ext>
                  </a:extLst>
                </a:hlinkClick>
              </a:rPr>
              <a:t>abdulwahabed@gmail.com</a:t>
            </a:r>
            <a:r>
              <a:rPr lang="en-US" b="1" dirty="0">
                <a:solidFill>
                  <a:srgbClr val="000000"/>
                </a:solidFill>
                <a:latin typeface="Times New Roman" panose="02020603050405020304" pitchFamily="18" charset="0"/>
              </a:rPr>
              <a:t>)</a:t>
            </a:r>
            <a:endParaRPr lang="en-US" dirty="0"/>
          </a:p>
          <a:p>
            <a:pPr indent="457200" algn="ctr">
              <a:spcAft>
                <a:spcPts val="1200"/>
              </a:spcAft>
            </a:pPr>
            <a:r>
              <a:rPr lang="en-US" b="1" dirty="0">
                <a:solidFill>
                  <a:srgbClr val="000000"/>
                </a:solidFill>
                <a:latin typeface="Times New Roman" panose="02020603050405020304" pitchFamily="18" charset="0"/>
              </a:rPr>
              <a:t>Nasiha Jerin (</a:t>
            </a:r>
            <a:r>
              <a:rPr lang="en-US" b="1" u="sng" dirty="0">
                <a:solidFill>
                  <a:srgbClr val="1155CC"/>
                </a:solidFill>
                <a:latin typeface="Times New Roman" panose="02020603050405020304" pitchFamily="18" charset="0"/>
                <a:hlinkClick r:id="rId4">
                  <a:extLst>
                    <a:ext uri="{A12FA001-AC4F-418D-AE19-62706E023703}">
                      <ahyp:hlinkClr xmlns:ahyp="http://schemas.microsoft.com/office/drawing/2018/hyperlinkcolor" val="tx"/>
                    </a:ext>
                  </a:extLst>
                </a:hlinkClick>
              </a:rPr>
              <a:t>nasiha.jerin@gmail.com</a:t>
            </a:r>
            <a:r>
              <a:rPr lang="en-US" b="1" dirty="0">
                <a:solidFill>
                  <a:srgbClr val="000000"/>
                </a:solidFill>
                <a:latin typeface="Times New Roman" panose="02020603050405020304" pitchFamily="18" charset="0"/>
              </a:rPr>
              <a:t>)</a:t>
            </a:r>
            <a:endParaRPr lang="en-US" dirty="0"/>
          </a:p>
          <a:p>
            <a:pPr indent="457200" algn="ctr">
              <a:spcAft>
                <a:spcPts val="1200"/>
              </a:spcAft>
            </a:pPr>
            <a:r>
              <a:rPr lang="en-US" b="1" dirty="0">
                <a:solidFill>
                  <a:srgbClr val="000000"/>
                </a:solidFill>
                <a:latin typeface="Times New Roman" panose="02020603050405020304" pitchFamily="18" charset="0"/>
              </a:rPr>
              <a:t>Rudy Bi (</a:t>
            </a:r>
            <a:r>
              <a:rPr lang="en-US" b="1" u="sng" dirty="0">
                <a:solidFill>
                  <a:srgbClr val="1155CC"/>
                </a:solidFill>
                <a:latin typeface="Times New Roman" panose="02020603050405020304" pitchFamily="18" charset="0"/>
                <a:hlinkClick r:id="rId5">
                  <a:extLst>
                    <a:ext uri="{A12FA001-AC4F-418D-AE19-62706E023703}">
                      <ahyp:hlinkClr xmlns:ahyp="http://schemas.microsoft.com/office/drawing/2018/hyperlinkcolor" val="tx"/>
                    </a:ext>
                  </a:extLst>
                </a:hlinkClick>
              </a:rPr>
              <a:t>cavrudy@gmail.com</a:t>
            </a:r>
            <a:r>
              <a:rPr lang="en-US" b="1" dirty="0">
                <a:solidFill>
                  <a:srgbClr val="000000"/>
                </a:solidFill>
                <a:latin typeface="Times New Roman" panose="02020603050405020304" pitchFamily="18" charset="0"/>
              </a:rPr>
              <a:t>)</a:t>
            </a:r>
            <a:endParaRPr lang="en-US" dirty="0"/>
          </a:p>
          <a:p>
            <a:pPr indent="457200" algn="ctr">
              <a:spcAft>
                <a:spcPts val="1200"/>
              </a:spcAft>
            </a:pPr>
            <a:r>
              <a:rPr lang="en-US" b="1" dirty="0">
                <a:solidFill>
                  <a:srgbClr val="000000"/>
                </a:solidFill>
                <a:latin typeface="Times New Roman" panose="02020603050405020304" pitchFamily="18" charset="0"/>
              </a:rPr>
              <a:t>Xiaqian Zhang (xiaqian1999@gmail.com)</a:t>
            </a:r>
            <a:endParaRPr lang="en-US" dirty="0"/>
          </a:p>
          <a:p>
            <a:br>
              <a:rPr lang="en-US" dirty="0"/>
            </a:br>
            <a:endParaRPr lang="en-US" dirty="0"/>
          </a:p>
        </p:txBody>
      </p:sp>
    </p:spTree>
    <p:extLst>
      <p:ext uri="{BB962C8B-B14F-4D97-AF65-F5344CB8AC3E}">
        <p14:creationId xmlns:p14="http://schemas.microsoft.com/office/powerpoint/2010/main" val="4248498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1031</TotalTime>
  <Words>871</Words>
  <Application>Microsoft Office PowerPoint</Application>
  <PresentationFormat>Widescreen</PresentationFormat>
  <Paragraphs>163</Paragraphs>
  <Slides>12</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WEB-BASED COURSE ATTENDANCE SYSTEM</vt:lpstr>
      <vt:lpstr>Executive Summary</vt:lpstr>
      <vt:lpstr>    Project Proposal:</vt:lpstr>
      <vt:lpstr> Project Proposal:    </vt:lpstr>
      <vt:lpstr>          Users</vt:lpstr>
      <vt:lpstr>    Requirements</vt:lpstr>
      <vt:lpstr>    Assumptions/Constraints/Risks  </vt:lpstr>
      <vt:lpstr>Systems Analysis: Usage Model</vt:lpstr>
      <vt:lpstr>Systems Analysis: Business Process Model</vt:lpstr>
      <vt:lpstr>Systems Analysis: Conceptual Model</vt:lpstr>
      <vt:lpstr>Test Scenarios</vt:lpstr>
      <vt:lpstr>                     WEB-BASED COURSE                      ATTENDANCE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WEB-BASED COURSE ATTENDANCE SYSTEM</dc:title>
  <dc:creator>RUDY.BI@baruchmail.cuny.edu</dc:creator>
  <cp:lastModifiedBy>RUDY.BI@baruchmail.cuny.edu</cp:lastModifiedBy>
  <cp:revision>43</cp:revision>
  <dcterms:created xsi:type="dcterms:W3CDTF">2020-04-25T19:24:01Z</dcterms:created>
  <dcterms:modified xsi:type="dcterms:W3CDTF">2020-04-27T05:42:46Z</dcterms:modified>
</cp:coreProperties>
</file>